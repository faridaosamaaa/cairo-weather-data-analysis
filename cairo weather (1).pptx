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Roboto Bold" charset="1" panose="02000000000000000000"/>
      <p:regular r:id="rId17"/>
    </p:embeddedFont>
    <p:embeddedFont>
      <p:font typeface="Garet Ultra-Bold" charset="1" panose="00000000000000000000"/>
      <p:regular r:id="rId18"/>
    </p:embeddedFont>
    <p:embeddedFont>
      <p:font typeface="Roboto" charset="1" panose="020000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jpe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2.png" Type="http://schemas.openxmlformats.org/officeDocument/2006/relationships/image"/><Relationship Id="rId5" Target="../media/image23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24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5.png" Type="http://schemas.openxmlformats.org/officeDocument/2006/relationships/image"/><Relationship Id="rId5" Target="../media/image26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27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8.jpe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svg" Type="http://schemas.openxmlformats.org/officeDocument/2006/relationships/image"/><Relationship Id="rId12" Target="../media/image31.png" Type="http://schemas.openxmlformats.org/officeDocument/2006/relationships/image"/><Relationship Id="rId13" Target="../media/image3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29.png" Type="http://schemas.openxmlformats.org/officeDocument/2006/relationships/image"/><Relationship Id="rId7" Target="../media/image30.svg" Type="http://schemas.openxmlformats.org/officeDocument/2006/relationships/image"/><Relationship Id="rId8" Target="../media/image25.png" Type="http://schemas.openxmlformats.org/officeDocument/2006/relationships/image"/><Relationship Id="rId9" Target="../media/image26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D9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-2963055" y="6340964"/>
            <a:ext cx="25697971" cy="22847833"/>
          </a:xfrm>
          <a:custGeom>
            <a:avLst/>
            <a:gdLst/>
            <a:ahLst/>
            <a:cxnLst/>
            <a:rect r="r" b="b" t="t" l="l"/>
            <a:pathLst>
              <a:path h="22847833" w="25697971">
                <a:moveTo>
                  <a:pt x="0" y="22847833"/>
                </a:moveTo>
                <a:lnTo>
                  <a:pt x="25697971" y="22847833"/>
                </a:lnTo>
                <a:lnTo>
                  <a:pt x="25697971" y="0"/>
                </a:lnTo>
                <a:lnTo>
                  <a:pt x="0" y="0"/>
                </a:lnTo>
                <a:lnTo>
                  <a:pt x="0" y="2284783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9366201"/>
            <a:ext cx="18288000" cy="943673"/>
            <a:chOff x="0" y="0"/>
            <a:chExt cx="4816593" cy="24853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48539"/>
            </a:xfrm>
            <a:custGeom>
              <a:avLst/>
              <a:gdLst/>
              <a:ahLst/>
              <a:cxnLst/>
              <a:rect r="r" b="b" t="t" l="l"/>
              <a:pathLst>
                <a:path h="248539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48539"/>
                  </a:lnTo>
                  <a:lnTo>
                    <a:pt x="0" y="248539"/>
                  </a:lnTo>
                  <a:close/>
                </a:path>
              </a:pathLst>
            </a:custGeom>
            <a:solidFill>
              <a:srgbClr val="464A3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816593" cy="2961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9885931" y="1590076"/>
            <a:ext cx="12062771" cy="11821515"/>
          </a:xfrm>
          <a:custGeom>
            <a:avLst/>
            <a:gdLst/>
            <a:ahLst/>
            <a:cxnLst/>
            <a:rect r="r" b="b" t="t" l="l"/>
            <a:pathLst>
              <a:path h="11821515" w="12062771">
                <a:moveTo>
                  <a:pt x="0" y="0"/>
                </a:moveTo>
                <a:lnTo>
                  <a:pt x="12062771" y="0"/>
                </a:lnTo>
                <a:lnTo>
                  <a:pt x="12062771" y="11821515"/>
                </a:lnTo>
                <a:lnTo>
                  <a:pt x="0" y="118215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7" id="7"/>
          <p:cNvGrpSpPr/>
          <p:nvPr/>
        </p:nvGrpSpPr>
        <p:grpSpPr>
          <a:xfrm rot="0">
            <a:off x="1737208" y="6071358"/>
            <a:ext cx="6828688" cy="996622"/>
            <a:chOff x="0" y="0"/>
            <a:chExt cx="1798502" cy="26248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98502" cy="262485"/>
            </a:xfrm>
            <a:custGeom>
              <a:avLst/>
              <a:gdLst/>
              <a:ahLst/>
              <a:cxnLst/>
              <a:rect r="r" b="b" t="t" l="l"/>
              <a:pathLst>
                <a:path h="262485" w="1798502">
                  <a:moveTo>
                    <a:pt x="68024" y="0"/>
                  </a:moveTo>
                  <a:lnTo>
                    <a:pt x="1730478" y="0"/>
                  </a:lnTo>
                  <a:cubicBezTo>
                    <a:pt x="1748519" y="0"/>
                    <a:pt x="1765821" y="7167"/>
                    <a:pt x="1778578" y="19924"/>
                  </a:cubicBezTo>
                  <a:cubicBezTo>
                    <a:pt x="1791335" y="32681"/>
                    <a:pt x="1798502" y="49983"/>
                    <a:pt x="1798502" y="68024"/>
                  </a:cubicBezTo>
                  <a:lnTo>
                    <a:pt x="1798502" y="194461"/>
                  </a:lnTo>
                  <a:cubicBezTo>
                    <a:pt x="1798502" y="212502"/>
                    <a:pt x="1791335" y="229804"/>
                    <a:pt x="1778578" y="242561"/>
                  </a:cubicBezTo>
                  <a:cubicBezTo>
                    <a:pt x="1765821" y="255318"/>
                    <a:pt x="1748519" y="262485"/>
                    <a:pt x="1730478" y="262485"/>
                  </a:cubicBezTo>
                  <a:lnTo>
                    <a:pt x="68024" y="262485"/>
                  </a:lnTo>
                  <a:cubicBezTo>
                    <a:pt x="49983" y="262485"/>
                    <a:pt x="32681" y="255318"/>
                    <a:pt x="19924" y="242561"/>
                  </a:cubicBezTo>
                  <a:cubicBezTo>
                    <a:pt x="7167" y="229804"/>
                    <a:pt x="0" y="212502"/>
                    <a:pt x="0" y="194461"/>
                  </a:cubicBezTo>
                  <a:lnTo>
                    <a:pt x="0" y="68024"/>
                  </a:lnTo>
                  <a:cubicBezTo>
                    <a:pt x="0" y="49983"/>
                    <a:pt x="7167" y="32681"/>
                    <a:pt x="19924" y="19924"/>
                  </a:cubicBezTo>
                  <a:cubicBezTo>
                    <a:pt x="32681" y="7167"/>
                    <a:pt x="49983" y="0"/>
                    <a:pt x="68024" y="0"/>
                  </a:cubicBezTo>
                  <a:close/>
                </a:path>
              </a:pathLst>
            </a:custGeom>
            <a:solidFill>
              <a:srgbClr val="E14852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1798502" cy="3101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b="true" sz="2499">
                  <a:solidFill>
                    <a:srgbClr val="FFF9F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Temperature Trends &amp; Statistical Analysis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9782069" y="1456654"/>
            <a:ext cx="687935" cy="883732"/>
          </a:xfrm>
          <a:custGeom>
            <a:avLst/>
            <a:gdLst/>
            <a:ahLst/>
            <a:cxnLst/>
            <a:rect r="r" b="b" t="t" l="l"/>
            <a:pathLst>
              <a:path h="883732" w="687935">
                <a:moveTo>
                  <a:pt x="0" y="0"/>
                </a:moveTo>
                <a:lnTo>
                  <a:pt x="687935" y="0"/>
                </a:lnTo>
                <a:lnTo>
                  <a:pt x="687935" y="883732"/>
                </a:lnTo>
                <a:lnTo>
                  <a:pt x="0" y="88373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737208" y="1190625"/>
            <a:ext cx="7580326" cy="4531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32"/>
              </a:lnSpc>
            </a:pPr>
            <a:r>
              <a:rPr lang="en-US" b="true" sz="8832" spc="-441">
                <a:solidFill>
                  <a:srgbClr val="464A39"/>
                </a:solidFill>
                <a:latin typeface="Garet Ultra-Bold"/>
                <a:ea typeface="Garet Ultra-Bold"/>
                <a:cs typeface="Garet Ultra-Bold"/>
                <a:sym typeface="Garet Ultra-Bold"/>
              </a:rPr>
              <a:t>CAIRO WEATHER ANALYSIS (2009-2024)</a:t>
            </a:r>
          </a:p>
        </p:txBody>
      </p:sp>
      <p:sp>
        <p:nvSpPr>
          <p:cNvPr name="Freeform 12" id="12"/>
          <p:cNvSpPr/>
          <p:nvPr/>
        </p:nvSpPr>
        <p:spPr>
          <a:xfrm flipH="true" flipV="false" rot="0">
            <a:off x="744627" y="4778575"/>
            <a:ext cx="568147" cy="729850"/>
          </a:xfrm>
          <a:custGeom>
            <a:avLst/>
            <a:gdLst/>
            <a:ahLst/>
            <a:cxnLst/>
            <a:rect r="r" b="b" t="t" l="l"/>
            <a:pathLst>
              <a:path h="729850" w="568147">
                <a:moveTo>
                  <a:pt x="568146" y="0"/>
                </a:moveTo>
                <a:lnTo>
                  <a:pt x="0" y="0"/>
                </a:lnTo>
                <a:lnTo>
                  <a:pt x="0" y="729850"/>
                </a:lnTo>
                <a:lnTo>
                  <a:pt x="568146" y="729850"/>
                </a:lnTo>
                <a:lnTo>
                  <a:pt x="568146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8970465" y="5556663"/>
            <a:ext cx="347069" cy="445851"/>
          </a:xfrm>
          <a:custGeom>
            <a:avLst/>
            <a:gdLst/>
            <a:ahLst/>
            <a:cxnLst/>
            <a:rect r="r" b="b" t="t" l="l"/>
            <a:pathLst>
              <a:path h="445851" w="347069">
                <a:moveTo>
                  <a:pt x="0" y="0"/>
                </a:moveTo>
                <a:lnTo>
                  <a:pt x="347070" y="0"/>
                </a:lnTo>
                <a:lnTo>
                  <a:pt x="347070" y="445851"/>
                </a:lnTo>
                <a:lnTo>
                  <a:pt x="0" y="44585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14" id="14"/>
          <p:cNvGrpSpPr/>
          <p:nvPr/>
        </p:nvGrpSpPr>
        <p:grpSpPr>
          <a:xfrm rot="0">
            <a:off x="269211" y="7417309"/>
            <a:ext cx="9856826" cy="1709852"/>
            <a:chOff x="0" y="0"/>
            <a:chExt cx="2596037" cy="45033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96037" cy="450331"/>
            </a:xfrm>
            <a:custGeom>
              <a:avLst/>
              <a:gdLst/>
              <a:ahLst/>
              <a:cxnLst/>
              <a:rect r="r" b="b" t="t" l="l"/>
              <a:pathLst>
                <a:path h="450331" w="2596037">
                  <a:moveTo>
                    <a:pt x="47126" y="0"/>
                  </a:moveTo>
                  <a:lnTo>
                    <a:pt x="2548910" y="0"/>
                  </a:lnTo>
                  <a:cubicBezTo>
                    <a:pt x="2561409" y="0"/>
                    <a:pt x="2573396" y="4965"/>
                    <a:pt x="2582233" y="13803"/>
                  </a:cubicBezTo>
                  <a:cubicBezTo>
                    <a:pt x="2591071" y="22641"/>
                    <a:pt x="2596037" y="34628"/>
                    <a:pt x="2596037" y="47126"/>
                  </a:cubicBezTo>
                  <a:lnTo>
                    <a:pt x="2596037" y="403205"/>
                  </a:lnTo>
                  <a:cubicBezTo>
                    <a:pt x="2596037" y="415704"/>
                    <a:pt x="2591071" y="427691"/>
                    <a:pt x="2582233" y="436528"/>
                  </a:cubicBezTo>
                  <a:cubicBezTo>
                    <a:pt x="2573396" y="445366"/>
                    <a:pt x="2561409" y="450331"/>
                    <a:pt x="2548910" y="450331"/>
                  </a:cubicBezTo>
                  <a:lnTo>
                    <a:pt x="47126" y="450331"/>
                  </a:lnTo>
                  <a:cubicBezTo>
                    <a:pt x="34628" y="450331"/>
                    <a:pt x="22641" y="445366"/>
                    <a:pt x="13803" y="436528"/>
                  </a:cubicBezTo>
                  <a:cubicBezTo>
                    <a:pt x="4965" y="427691"/>
                    <a:pt x="0" y="415704"/>
                    <a:pt x="0" y="403205"/>
                  </a:cubicBezTo>
                  <a:lnTo>
                    <a:pt x="0" y="47126"/>
                  </a:lnTo>
                  <a:cubicBezTo>
                    <a:pt x="0" y="34628"/>
                    <a:pt x="4965" y="22641"/>
                    <a:pt x="13803" y="13803"/>
                  </a:cubicBezTo>
                  <a:cubicBezTo>
                    <a:pt x="22641" y="4965"/>
                    <a:pt x="34628" y="0"/>
                    <a:pt x="47126" y="0"/>
                  </a:cubicBezTo>
                  <a:close/>
                </a:path>
              </a:pathLst>
            </a:custGeom>
            <a:solidFill>
              <a:srgbClr val="E14852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2596037" cy="4979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sz="2499" b="true">
                  <a:solidFill>
                    <a:srgbClr val="FFF9F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Presented by:</a:t>
              </a:r>
            </a:p>
            <a:p>
              <a:pPr algn="ctr">
                <a:lnSpc>
                  <a:spcPts val="3499"/>
                </a:lnSpc>
              </a:pPr>
              <a:r>
                <a:rPr lang="en-US" sz="2499" b="true">
                  <a:solidFill>
                    <a:srgbClr val="FFF9F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Farida Osama - 24-101513        Hana Ahmed - 24-101108</a:t>
              </a:r>
            </a:p>
            <a:p>
              <a:pPr algn="ctr">
                <a:lnSpc>
                  <a:spcPts val="3499"/>
                </a:lnSpc>
              </a:pPr>
              <a:r>
                <a:rPr lang="en-US" b="true" sz="2499">
                  <a:solidFill>
                    <a:srgbClr val="FFF9F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 Tasnem Ahmed - 24-101166        Abdelrahman Ahmed - 24-101501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D9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-2963055" y="2330483"/>
            <a:ext cx="25697971" cy="22847833"/>
          </a:xfrm>
          <a:custGeom>
            <a:avLst/>
            <a:gdLst/>
            <a:ahLst/>
            <a:cxnLst/>
            <a:rect r="r" b="b" t="t" l="l"/>
            <a:pathLst>
              <a:path h="22847833" w="25697971">
                <a:moveTo>
                  <a:pt x="0" y="22847832"/>
                </a:moveTo>
                <a:lnTo>
                  <a:pt x="25697971" y="22847832"/>
                </a:lnTo>
                <a:lnTo>
                  <a:pt x="25697971" y="0"/>
                </a:lnTo>
                <a:lnTo>
                  <a:pt x="0" y="0"/>
                </a:lnTo>
                <a:lnTo>
                  <a:pt x="0" y="2284783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9366201"/>
            <a:ext cx="18288000" cy="943673"/>
            <a:chOff x="0" y="0"/>
            <a:chExt cx="4816593" cy="24853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48539"/>
            </a:xfrm>
            <a:custGeom>
              <a:avLst/>
              <a:gdLst/>
              <a:ahLst/>
              <a:cxnLst/>
              <a:rect r="r" b="b" t="t" l="l"/>
              <a:pathLst>
                <a:path h="248539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48539"/>
                  </a:lnTo>
                  <a:lnTo>
                    <a:pt x="0" y="248539"/>
                  </a:lnTo>
                  <a:close/>
                </a:path>
              </a:pathLst>
            </a:custGeom>
            <a:solidFill>
              <a:srgbClr val="464A3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816593" cy="2961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4916222" y="4054045"/>
            <a:ext cx="2869365" cy="6494448"/>
          </a:xfrm>
          <a:custGeom>
            <a:avLst/>
            <a:gdLst/>
            <a:ahLst/>
            <a:cxnLst/>
            <a:rect r="r" b="b" t="t" l="l"/>
            <a:pathLst>
              <a:path h="6494448" w="2869365">
                <a:moveTo>
                  <a:pt x="0" y="0"/>
                </a:moveTo>
                <a:lnTo>
                  <a:pt x="2869365" y="0"/>
                </a:lnTo>
                <a:lnTo>
                  <a:pt x="2869365" y="6494449"/>
                </a:lnTo>
                <a:lnTo>
                  <a:pt x="0" y="64944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76102" y="4054045"/>
            <a:ext cx="4392609" cy="6494448"/>
          </a:xfrm>
          <a:custGeom>
            <a:avLst/>
            <a:gdLst/>
            <a:ahLst/>
            <a:cxnLst/>
            <a:rect r="r" b="b" t="t" l="l"/>
            <a:pathLst>
              <a:path h="6494448" w="4392609">
                <a:moveTo>
                  <a:pt x="0" y="0"/>
                </a:moveTo>
                <a:lnTo>
                  <a:pt x="4392608" y="0"/>
                </a:lnTo>
                <a:lnTo>
                  <a:pt x="4392608" y="6494449"/>
                </a:lnTo>
                <a:lnTo>
                  <a:pt x="0" y="649444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8" id="8"/>
          <p:cNvGrpSpPr/>
          <p:nvPr/>
        </p:nvGrpSpPr>
        <p:grpSpPr>
          <a:xfrm rot="0">
            <a:off x="4542063" y="5563255"/>
            <a:ext cx="10687736" cy="1738014"/>
            <a:chOff x="0" y="0"/>
            <a:chExt cx="2814877" cy="45774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814877" cy="457749"/>
            </a:xfrm>
            <a:custGeom>
              <a:avLst/>
              <a:gdLst/>
              <a:ahLst/>
              <a:cxnLst/>
              <a:rect r="r" b="b" t="t" l="l"/>
              <a:pathLst>
                <a:path h="457749" w="2814877">
                  <a:moveTo>
                    <a:pt x="43462" y="0"/>
                  </a:moveTo>
                  <a:lnTo>
                    <a:pt x="2771415" y="0"/>
                  </a:lnTo>
                  <a:cubicBezTo>
                    <a:pt x="2782942" y="0"/>
                    <a:pt x="2793996" y="4579"/>
                    <a:pt x="2802147" y="12730"/>
                  </a:cubicBezTo>
                  <a:cubicBezTo>
                    <a:pt x="2810298" y="20881"/>
                    <a:pt x="2814877" y="31935"/>
                    <a:pt x="2814877" y="43462"/>
                  </a:cubicBezTo>
                  <a:lnTo>
                    <a:pt x="2814877" y="414286"/>
                  </a:lnTo>
                  <a:cubicBezTo>
                    <a:pt x="2814877" y="425813"/>
                    <a:pt x="2810298" y="436868"/>
                    <a:pt x="2802147" y="445019"/>
                  </a:cubicBezTo>
                  <a:cubicBezTo>
                    <a:pt x="2793996" y="453170"/>
                    <a:pt x="2782942" y="457749"/>
                    <a:pt x="2771415" y="457749"/>
                  </a:cubicBezTo>
                  <a:lnTo>
                    <a:pt x="43462" y="457749"/>
                  </a:lnTo>
                  <a:cubicBezTo>
                    <a:pt x="31935" y="457749"/>
                    <a:pt x="20881" y="453170"/>
                    <a:pt x="12730" y="445019"/>
                  </a:cubicBezTo>
                  <a:cubicBezTo>
                    <a:pt x="4579" y="436868"/>
                    <a:pt x="0" y="425813"/>
                    <a:pt x="0" y="414286"/>
                  </a:cubicBezTo>
                  <a:lnTo>
                    <a:pt x="0" y="43462"/>
                  </a:lnTo>
                  <a:cubicBezTo>
                    <a:pt x="0" y="31935"/>
                    <a:pt x="4579" y="20881"/>
                    <a:pt x="12730" y="12730"/>
                  </a:cubicBezTo>
                  <a:cubicBezTo>
                    <a:pt x="20881" y="4579"/>
                    <a:pt x="31935" y="0"/>
                    <a:pt x="43462" y="0"/>
                  </a:cubicBezTo>
                  <a:close/>
                </a:path>
              </a:pathLst>
            </a:custGeom>
            <a:solidFill>
              <a:srgbClr val="E1485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2814877" cy="457749"/>
            </a:xfrm>
            <a:prstGeom prst="rect">
              <a:avLst/>
            </a:prstGeom>
          </p:spPr>
          <p:txBody>
            <a:bodyPr anchor="ctr" rtlCol="false" tIns="127000" lIns="127000" bIns="127000" rIns="127000"/>
            <a:lstStyle/>
            <a:p>
              <a:pPr algn="ctr">
                <a:lnSpc>
                  <a:spcPts val="2999"/>
                </a:lnSpc>
              </a:pPr>
            </a:p>
            <a:p>
              <a:pPr algn="ctr">
                <a:lnSpc>
                  <a:spcPts val="3479"/>
                </a:lnSpc>
              </a:pPr>
              <a:r>
                <a:rPr lang="en-US" sz="2899" b="true">
                  <a:solidFill>
                    <a:srgbClr val="FFF9F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Has Cairo’s temperature increased significantly over time?</a:t>
              </a:r>
            </a:p>
            <a:p>
              <a:pPr algn="ctr" marL="0" indent="0" lvl="0">
                <a:lnSpc>
                  <a:spcPts val="287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624472" y="0"/>
            <a:ext cx="3495868" cy="4143809"/>
          </a:xfrm>
          <a:custGeom>
            <a:avLst/>
            <a:gdLst/>
            <a:ahLst/>
            <a:cxnLst/>
            <a:rect r="r" b="b" t="t" l="l"/>
            <a:pathLst>
              <a:path h="4143809" w="3495868">
                <a:moveTo>
                  <a:pt x="0" y="0"/>
                </a:moveTo>
                <a:lnTo>
                  <a:pt x="3495868" y="0"/>
                </a:lnTo>
                <a:lnTo>
                  <a:pt x="3495868" y="4143809"/>
                </a:lnTo>
                <a:lnTo>
                  <a:pt x="0" y="414380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4568710" y="748012"/>
            <a:ext cx="2188846" cy="1242328"/>
          </a:xfrm>
          <a:custGeom>
            <a:avLst/>
            <a:gdLst/>
            <a:ahLst/>
            <a:cxnLst/>
            <a:rect r="r" b="b" t="t" l="l"/>
            <a:pathLst>
              <a:path h="1242328" w="2188846">
                <a:moveTo>
                  <a:pt x="0" y="0"/>
                </a:moveTo>
                <a:lnTo>
                  <a:pt x="2188846" y="0"/>
                </a:lnTo>
                <a:lnTo>
                  <a:pt x="2188846" y="1242328"/>
                </a:lnTo>
                <a:lnTo>
                  <a:pt x="0" y="124232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171748" t="0" r="-227294" b="-707319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3" id="13"/>
          <p:cNvSpPr txBox="true"/>
          <p:nvPr/>
        </p:nvSpPr>
        <p:spPr>
          <a:xfrm rot="0">
            <a:off x="4166005" y="2763904"/>
            <a:ext cx="11439852" cy="1060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00"/>
              </a:lnSpc>
            </a:pPr>
            <a:r>
              <a:rPr lang="en-US" b="true" sz="8000" spc="-400">
                <a:solidFill>
                  <a:srgbClr val="464A39"/>
                </a:solidFill>
                <a:latin typeface="Garet Ultra-Bold"/>
                <a:ea typeface="Garet Ultra-Bold"/>
                <a:cs typeface="Garet Ultra-Bold"/>
                <a:sym typeface="Garet Ultra-Bold"/>
              </a:rPr>
              <a:t>RESEARCH QUESTION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5306202" y="1990340"/>
            <a:ext cx="2188846" cy="1242328"/>
          </a:xfrm>
          <a:custGeom>
            <a:avLst/>
            <a:gdLst/>
            <a:ahLst/>
            <a:cxnLst/>
            <a:rect r="r" b="b" t="t" l="l"/>
            <a:pathLst>
              <a:path h="1242328" w="2188846">
                <a:moveTo>
                  <a:pt x="0" y="0"/>
                </a:moveTo>
                <a:lnTo>
                  <a:pt x="2188846" y="0"/>
                </a:lnTo>
                <a:lnTo>
                  <a:pt x="2188846" y="1242329"/>
                </a:lnTo>
                <a:lnTo>
                  <a:pt x="0" y="124232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171748" t="0" r="-227294" b="-707319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D9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2102915" y="3871157"/>
            <a:ext cx="8373801" cy="7445070"/>
          </a:xfrm>
          <a:custGeom>
            <a:avLst/>
            <a:gdLst/>
            <a:ahLst/>
            <a:cxnLst/>
            <a:rect r="r" b="b" t="t" l="l"/>
            <a:pathLst>
              <a:path h="7445070" w="8373801">
                <a:moveTo>
                  <a:pt x="0" y="7445070"/>
                </a:moveTo>
                <a:lnTo>
                  <a:pt x="8373801" y="7445070"/>
                </a:lnTo>
                <a:lnTo>
                  <a:pt x="8373801" y="0"/>
                </a:lnTo>
                <a:lnTo>
                  <a:pt x="0" y="0"/>
                </a:lnTo>
                <a:lnTo>
                  <a:pt x="0" y="744507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-5262536" y="2966199"/>
            <a:ext cx="8373801" cy="7445070"/>
          </a:xfrm>
          <a:custGeom>
            <a:avLst/>
            <a:gdLst/>
            <a:ahLst/>
            <a:cxnLst/>
            <a:rect r="r" b="b" t="t" l="l"/>
            <a:pathLst>
              <a:path h="7445070" w="8373801">
                <a:moveTo>
                  <a:pt x="0" y="7445070"/>
                </a:moveTo>
                <a:lnTo>
                  <a:pt x="8373801" y="7445070"/>
                </a:lnTo>
                <a:lnTo>
                  <a:pt x="8373801" y="0"/>
                </a:lnTo>
                <a:lnTo>
                  <a:pt x="0" y="0"/>
                </a:lnTo>
                <a:lnTo>
                  <a:pt x="0" y="744507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0" y="9366201"/>
            <a:ext cx="18288000" cy="943673"/>
            <a:chOff x="0" y="0"/>
            <a:chExt cx="4816593" cy="24853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16592" cy="248539"/>
            </a:xfrm>
            <a:custGeom>
              <a:avLst/>
              <a:gdLst/>
              <a:ahLst/>
              <a:cxnLst/>
              <a:rect r="r" b="b" t="t" l="l"/>
              <a:pathLst>
                <a:path h="248539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48539"/>
                  </a:lnTo>
                  <a:lnTo>
                    <a:pt x="0" y="248539"/>
                  </a:lnTo>
                  <a:close/>
                </a:path>
              </a:pathLst>
            </a:custGeom>
            <a:solidFill>
              <a:srgbClr val="464A39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4816593" cy="2961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4653918" y="2392968"/>
            <a:ext cx="2605382" cy="7916907"/>
          </a:xfrm>
          <a:custGeom>
            <a:avLst/>
            <a:gdLst/>
            <a:ahLst/>
            <a:cxnLst/>
            <a:rect r="r" b="b" t="t" l="l"/>
            <a:pathLst>
              <a:path h="7916907" w="2605382">
                <a:moveTo>
                  <a:pt x="0" y="0"/>
                </a:moveTo>
                <a:lnTo>
                  <a:pt x="2605382" y="0"/>
                </a:lnTo>
                <a:lnTo>
                  <a:pt x="2605382" y="7916907"/>
                </a:lnTo>
                <a:lnTo>
                  <a:pt x="0" y="79169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8" id="8"/>
          <p:cNvGrpSpPr/>
          <p:nvPr/>
        </p:nvGrpSpPr>
        <p:grpSpPr>
          <a:xfrm rot="0">
            <a:off x="4598522" y="3759425"/>
            <a:ext cx="9090957" cy="2768149"/>
            <a:chOff x="0" y="0"/>
            <a:chExt cx="2394326" cy="7290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94326" cy="729060"/>
            </a:xfrm>
            <a:custGeom>
              <a:avLst/>
              <a:gdLst/>
              <a:ahLst/>
              <a:cxnLst/>
              <a:rect r="r" b="b" t="t" l="l"/>
              <a:pathLst>
                <a:path h="729060" w="2394326">
                  <a:moveTo>
                    <a:pt x="51096" y="0"/>
                  </a:moveTo>
                  <a:lnTo>
                    <a:pt x="2343230" y="0"/>
                  </a:lnTo>
                  <a:cubicBezTo>
                    <a:pt x="2371449" y="0"/>
                    <a:pt x="2394326" y="22877"/>
                    <a:pt x="2394326" y="51096"/>
                  </a:cubicBezTo>
                  <a:lnTo>
                    <a:pt x="2394326" y="677964"/>
                  </a:lnTo>
                  <a:cubicBezTo>
                    <a:pt x="2394326" y="706183"/>
                    <a:pt x="2371449" y="729060"/>
                    <a:pt x="2343230" y="729060"/>
                  </a:cubicBezTo>
                  <a:lnTo>
                    <a:pt x="51096" y="729060"/>
                  </a:lnTo>
                  <a:cubicBezTo>
                    <a:pt x="37545" y="729060"/>
                    <a:pt x="24548" y="723677"/>
                    <a:pt x="14966" y="714094"/>
                  </a:cubicBezTo>
                  <a:cubicBezTo>
                    <a:pt x="5383" y="704512"/>
                    <a:pt x="0" y="691515"/>
                    <a:pt x="0" y="677964"/>
                  </a:cubicBezTo>
                  <a:lnTo>
                    <a:pt x="0" y="51096"/>
                  </a:lnTo>
                  <a:cubicBezTo>
                    <a:pt x="0" y="22877"/>
                    <a:pt x="22877" y="0"/>
                    <a:pt x="51096" y="0"/>
                  </a:cubicBezTo>
                  <a:close/>
                </a:path>
              </a:pathLst>
            </a:custGeom>
            <a:solidFill>
              <a:srgbClr val="E1485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2394326" cy="7385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287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3310748" y="1973031"/>
            <a:ext cx="7769824" cy="1137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70"/>
              </a:lnSpc>
            </a:pPr>
            <a:r>
              <a:rPr lang="en-US" b="true" sz="8570" spc="-428">
                <a:solidFill>
                  <a:srgbClr val="464A39"/>
                </a:solidFill>
                <a:latin typeface="Garet Ultra-Bold"/>
                <a:ea typeface="Garet Ultra-Bold"/>
                <a:cs typeface="Garet Ultra-Bold"/>
                <a:sym typeface="Garet Ultra-Bold"/>
              </a:rPr>
              <a:t>HYPOTHESIS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178564" y="4205287"/>
            <a:ext cx="7930873" cy="1962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36" indent="-280668" lvl="1">
              <a:lnSpc>
                <a:spcPts val="3119"/>
              </a:lnSpc>
              <a:buFont typeface="Arial"/>
              <a:buChar char="•"/>
            </a:pPr>
            <a:r>
              <a:rPr lang="en-US" b="true" sz="2599">
                <a:solidFill>
                  <a:srgbClr val="FFF9F0"/>
                </a:solidFill>
                <a:latin typeface="Roboto Bold"/>
                <a:ea typeface="Roboto Bold"/>
                <a:cs typeface="Roboto Bold"/>
                <a:sym typeface="Roboto Bold"/>
              </a:rPr>
              <a:t>H0 (Null Hypothesis)</a:t>
            </a:r>
            <a:r>
              <a:rPr lang="en-US" sz="2599">
                <a:solidFill>
                  <a:srgbClr val="FFF9F0"/>
                </a:solidFill>
                <a:latin typeface="Roboto"/>
                <a:ea typeface="Roboto"/>
                <a:cs typeface="Roboto"/>
                <a:sym typeface="Roboto"/>
              </a:rPr>
              <a:t>: No significant trend in    temperature in Cairo.</a:t>
            </a:r>
          </a:p>
          <a:p>
            <a:pPr algn="l">
              <a:lnSpc>
                <a:spcPts val="3119"/>
              </a:lnSpc>
            </a:pPr>
          </a:p>
          <a:p>
            <a:pPr algn="l" marL="561336" indent="-280668" lvl="1">
              <a:lnSpc>
                <a:spcPts val="311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599">
                <a:solidFill>
                  <a:srgbClr val="FFF9F0"/>
                </a:solidFill>
                <a:latin typeface="Roboto Bold"/>
                <a:ea typeface="Roboto Bold"/>
                <a:cs typeface="Roboto Bold"/>
                <a:sym typeface="Roboto Bold"/>
              </a:rPr>
              <a:t>H1 (Alternative Hypothesis):</a:t>
            </a:r>
            <a:r>
              <a:rPr lang="en-US" sz="2599">
                <a:solidFill>
                  <a:srgbClr val="FFF9F0"/>
                </a:solidFill>
                <a:latin typeface="Roboto"/>
                <a:ea typeface="Roboto"/>
                <a:cs typeface="Roboto"/>
                <a:sym typeface="Roboto"/>
              </a:rPr>
              <a:t> There is a significant trend in temperature in Cairo.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2315792" y="2249256"/>
            <a:ext cx="669971" cy="860655"/>
          </a:xfrm>
          <a:custGeom>
            <a:avLst/>
            <a:gdLst/>
            <a:ahLst/>
            <a:cxnLst/>
            <a:rect r="r" b="b" t="t" l="l"/>
            <a:pathLst>
              <a:path h="860655" w="669971">
                <a:moveTo>
                  <a:pt x="0" y="0"/>
                </a:moveTo>
                <a:lnTo>
                  <a:pt x="669971" y="0"/>
                </a:lnTo>
                <a:lnTo>
                  <a:pt x="669971" y="860655"/>
                </a:lnTo>
                <a:lnTo>
                  <a:pt x="0" y="86065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true" flipV="false" rot="0">
            <a:off x="3716173" y="3297926"/>
            <a:ext cx="446228" cy="573231"/>
          </a:xfrm>
          <a:custGeom>
            <a:avLst/>
            <a:gdLst/>
            <a:ahLst/>
            <a:cxnLst/>
            <a:rect r="r" b="b" t="t" l="l"/>
            <a:pathLst>
              <a:path h="573231" w="446228">
                <a:moveTo>
                  <a:pt x="446228" y="0"/>
                </a:moveTo>
                <a:lnTo>
                  <a:pt x="0" y="0"/>
                </a:lnTo>
                <a:lnTo>
                  <a:pt x="0" y="573231"/>
                </a:lnTo>
                <a:lnTo>
                  <a:pt x="446228" y="573231"/>
                </a:lnTo>
                <a:lnTo>
                  <a:pt x="44622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0046714" y="457515"/>
            <a:ext cx="2406383" cy="1353590"/>
          </a:xfrm>
          <a:custGeom>
            <a:avLst/>
            <a:gdLst/>
            <a:ahLst/>
            <a:cxnLst/>
            <a:rect r="r" b="b" t="t" l="l"/>
            <a:pathLst>
              <a:path h="1353590" w="2406383">
                <a:moveTo>
                  <a:pt x="0" y="0"/>
                </a:moveTo>
                <a:lnTo>
                  <a:pt x="2406383" y="0"/>
                </a:lnTo>
                <a:lnTo>
                  <a:pt x="2406383" y="1353591"/>
                </a:lnTo>
                <a:lnTo>
                  <a:pt x="0" y="135359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537737" t="-380084" r="-33503" b="-615598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6" id="16"/>
          <p:cNvSpPr/>
          <p:nvPr/>
        </p:nvSpPr>
        <p:spPr>
          <a:xfrm flipH="true" flipV="false" rot="0">
            <a:off x="929265" y="1601674"/>
            <a:ext cx="2188846" cy="1242328"/>
          </a:xfrm>
          <a:custGeom>
            <a:avLst/>
            <a:gdLst/>
            <a:ahLst/>
            <a:cxnLst/>
            <a:rect r="r" b="b" t="t" l="l"/>
            <a:pathLst>
              <a:path h="1242328" w="2188846">
                <a:moveTo>
                  <a:pt x="2188846" y="0"/>
                </a:moveTo>
                <a:lnTo>
                  <a:pt x="0" y="0"/>
                </a:lnTo>
                <a:lnTo>
                  <a:pt x="0" y="1242328"/>
                </a:lnTo>
                <a:lnTo>
                  <a:pt x="2188846" y="1242328"/>
                </a:lnTo>
                <a:lnTo>
                  <a:pt x="2188846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171748" t="0" r="-227294" b="-707319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D9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7052497">
            <a:off x="985404" y="-4279664"/>
            <a:ext cx="15747021" cy="14000534"/>
          </a:xfrm>
          <a:custGeom>
            <a:avLst/>
            <a:gdLst/>
            <a:ahLst/>
            <a:cxnLst/>
            <a:rect r="r" b="b" t="t" l="l"/>
            <a:pathLst>
              <a:path h="14000534" w="15747021">
                <a:moveTo>
                  <a:pt x="0" y="14000533"/>
                </a:moveTo>
                <a:lnTo>
                  <a:pt x="15747022" y="14000533"/>
                </a:lnTo>
                <a:lnTo>
                  <a:pt x="15747022" y="0"/>
                </a:lnTo>
                <a:lnTo>
                  <a:pt x="0" y="0"/>
                </a:lnTo>
                <a:lnTo>
                  <a:pt x="0" y="1400053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9366201"/>
            <a:ext cx="18288000" cy="943673"/>
            <a:chOff x="0" y="0"/>
            <a:chExt cx="4816593" cy="24853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48539"/>
            </a:xfrm>
            <a:custGeom>
              <a:avLst/>
              <a:gdLst/>
              <a:ahLst/>
              <a:cxnLst/>
              <a:rect r="r" b="b" t="t" l="l"/>
              <a:pathLst>
                <a:path h="248539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48539"/>
                  </a:lnTo>
                  <a:lnTo>
                    <a:pt x="0" y="248539"/>
                  </a:lnTo>
                  <a:close/>
                </a:path>
              </a:pathLst>
            </a:custGeom>
            <a:solidFill>
              <a:srgbClr val="464A3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816593" cy="2961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5976423" y="4695817"/>
            <a:ext cx="1687718" cy="6775512"/>
          </a:xfrm>
          <a:custGeom>
            <a:avLst/>
            <a:gdLst/>
            <a:ahLst/>
            <a:cxnLst/>
            <a:rect r="r" b="b" t="t" l="l"/>
            <a:pathLst>
              <a:path h="6775512" w="1687718">
                <a:moveTo>
                  <a:pt x="0" y="0"/>
                </a:moveTo>
                <a:lnTo>
                  <a:pt x="1687718" y="0"/>
                </a:lnTo>
                <a:lnTo>
                  <a:pt x="1687718" y="6775511"/>
                </a:lnTo>
                <a:lnTo>
                  <a:pt x="0" y="67755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7" id="7"/>
          <p:cNvSpPr txBox="true"/>
          <p:nvPr/>
        </p:nvSpPr>
        <p:spPr>
          <a:xfrm rot="0">
            <a:off x="4517083" y="2059443"/>
            <a:ext cx="9253834" cy="1060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00"/>
              </a:lnSpc>
            </a:pPr>
            <a:r>
              <a:rPr lang="en-US" b="true" sz="8000" spc="-400">
                <a:solidFill>
                  <a:srgbClr val="464A39"/>
                </a:solidFill>
                <a:latin typeface="Garet Ultra-Bold"/>
                <a:ea typeface="Garet Ultra-Bold"/>
                <a:cs typeface="Garet Ultra-Bold"/>
                <a:sym typeface="Garet Ultra-Bold"/>
              </a:rPr>
              <a:t>DATA OVERVIEW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5305949" y="3603241"/>
            <a:ext cx="7676102" cy="3211639"/>
            <a:chOff x="0" y="0"/>
            <a:chExt cx="2021690" cy="84586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21690" cy="845864"/>
            </a:xfrm>
            <a:custGeom>
              <a:avLst/>
              <a:gdLst/>
              <a:ahLst/>
              <a:cxnLst/>
              <a:rect r="r" b="b" t="t" l="l"/>
              <a:pathLst>
                <a:path h="845864" w="2021690">
                  <a:moveTo>
                    <a:pt x="60514" y="0"/>
                  </a:moveTo>
                  <a:lnTo>
                    <a:pt x="1961175" y="0"/>
                  </a:lnTo>
                  <a:cubicBezTo>
                    <a:pt x="1977224" y="0"/>
                    <a:pt x="1992617" y="6376"/>
                    <a:pt x="2003965" y="17724"/>
                  </a:cubicBezTo>
                  <a:cubicBezTo>
                    <a:pt x="2015314" y="29073"/>
                    <a:pt x="2021690" y="44465"/>
                    <a:pt x="2021690" y="60514"/>
                  </a:cubicBezTo>
                  <a:lnTo>
                    <a:pt x="2021690" y="785349"/>
                  </a:lnTo>
                  <a:cubicBezTo>
                    <a:pt x="2021690" y="801399"/>
                    <a:pt x="2015314" y="816791"/>
                    <a:pt x="2003965" y="828139"/>
                  </a:cubicBezTo>
                  <a:cubicBezTo>
                    <a:pt x="1992617" y="839488"/>
                    <a:pt x="1977224" y="845864"/>
                    <a:pt x="1961175" y="845864"/>
                  </a:cubicBezTo>
                  <a:lnTo>
                    <a:pt x="60514" y="845864"/>
                  </a:lnTo>
                  <a:cubicBezTo>
                    <a:pt x="44465" y="845864"/>
                    <a:pt x="29073" y="839488"/>
                    <a:pt x="17724" y="828139"/>
                  </a:cubicBezTo>
                  <a:cubicBezTo>
                    <a:pt x="6376" y="816791"/>
                    <a:pt x="0" y="801399"/>
                    <a:pt x="0" y="785349"/>
                  </a:cubicBezTo>
                  <a:lnTo>
                    <a:pt x="0" y="60514"/>
                  </a:lnTo>
                  <a:cubicBezTo>
                    <a:pt x="0" y="44465"/>
                    <a:pt x="6376" y="29073"/>
                    <a:pt x="17724" y="17724"/>
                  </a:cubicBezTo>
                  <a:cubicBezTo>
                    <a:pt x="29073" y="6376"/>
                    <a:pt x="44465" y="0"/>
                    <a:pt x="60514" y="0"/>
                  </a:cubicBezTo>
                  <a:close/>
                </a:path>
              </a:pathLst>
            </a:custGeom>
            <a:solidFill>
              <a:srgbClr val="E1485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2021690" cy="8553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287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5085367" y="2547562"/>
            <a:ext cx="891056" cy="1144664"/>
          </a:xfrm>
          <a:custGeom>
            <a:avLst/>
            <a:gdLst/>
            <a:ahLst/>
            <a:cxnLst/>
            <a:rect r="r" b="b" t="t" l="l"/>
            <a:pathLst>
              <a:path h="1144664" w="891056">
                <a:moveTo>
                  <a:pt x="0" y="0"/>
                </a:moveTo>
                <a:lnTo>
                  <a:pt x="891056" y="0"/>
                </a:lnTo>
                <a:lnTo>
                  <a:pt x="891056" y="1144664"/>
                </a:lnTo>
                <a:lnTo>
                  <a:pt x="0" y="114466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false" rot="0">
            <a:off x="2608737" y="3462013"/>
            <a:ext cx="593479" cy="762392"/>
          </a:xfrm>
          <a:custGeom>
            <a:avLst/>
            <a:gdLst/>
            <a:ahLst/>
            <a:cxnLst/>
            <a:rect r="r" b="b" t="t" l="l"/>
            <a:pathLst>
              <a:path h="762392" w="593479">
                <a:moveTo>
                  <a:pt x="593479" y="0"/>
                </a:moveTo>
                <a:lnTo>
                  <a:pt x="0" y="0"/>
                </a:lnTo>
                <a:lnTo>
                  <a:pt x="0" y="762392"/>
                </a:lnTo>
                <a:lnTo>
                  <a:pt x="593479" y="762392"/>
                </a:lnTo>
                <a:lnTo>
                  <a:pt x="593479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5878188" y="4171551"/>
            <a:ext cx="6531624" cy="1924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89324" indent="-344662" lvl="1">
              <a:lnSpc>
                <a:spcPts val="3831"/>
              </a:lnSpc>
              <a:buFont typeface="Arial"/>
              <a:buChar char="•"/>
            </a:pPr>
            <a:r>
              <a:rPr lang="en-US" b="true" sz="3192">
                <a:solidFill>
                  <a:srgbClr val="FFF9F0"/>
                </a:solidFill>
                <a:latin typeface="Roboto Bold"/>
                <a:ea typeface="Roboto Bold"/>
                <a:cs typeface="Roboto Bold"/>
                <a:sym typeface="Roboto Bold"/>
              </a:rPr>
              <a:t>Time:</a:t>
            </a:r>
            <a:r>
              <a:rPr lang="en-US" sz="3192">
                <a:solidFill>
                  <a:srgbClr val="FFF9F0"/>
                </a:solidFill>
                <a:latin typeface="Roboto"/>
                <a:ea typeface="Roboto"/>
                <a:cs typeface="Roboto"/>
                <a:sym typeface="Roboto"/>
              </a:rPr>
              <a:t> Feb 1, 2009 - Dec 31,2024 </a:t>
            </a:r>
          </a:p>
          <a:p>
            <a:pPr algn="l" marL="689324" indent="-344662" lvl="1">
              <a:lnSpc>
                <a:spcPts val="3831"/>
              </a:lnSpc>
              <a:buFont typeface="Arial"/>
              <a:buChar char="•"/>
            </a:pPr>
            <a:r>
              <a:rPr lang="en-US" b="true" sz="3192">
                <a:solidFill>
                  <a:srgbClr val="FFF9F0"/>
                </a:solidFill>
                <a:latin typeface="Roboto Bold"/>
                <a:ea typeface="Roboto Bold"/>
                <a:cs typeface="Roboto Bold"/>
                <a:sym typeface="Roboto Bold"/>
              </a:rPr>
              <a:t>5,813</a:t>
            </a:r>
            <a:r>
              <a:rPr lang="en-US" sz="3192">
                <a:solidFill>
                  <a:srgbClr val="FFF9F0"/>
                </a:solidFill>
                <a:latin typeface="Roboto"/>
                <a:ea typeface="Roboto"/>
                <a:cs typeface="Roboto"/>
                <a:sym typeface="Roboto"/>
              </a:rPr>
              <a:t> observations</a:t>
            </a:r>
          </a:p>
          <a:p>
            <a:pPr algn="l" marL="689324" indent="-344662" lvl="1">
              <a:lnSpc>
                <a:spcPts val="3831"/>
              </a:lnSpc>
              <a:buFont typeface="Arial"/>
              <a:buChar char="•"/>
            </a:pPr>
            <a:r>
              <a:rPr lang="en-US" b="true" sz="3192">
                <a:solidFill>
                  <a:srgbClr val="FFF9F0"/>
                </a:solidFill>
                <a:latin typeface="Roboto Bold"/>
                <a:ea typeface="Roboto Bold"/>
                <a:cs typeface="Roboto Bold"/>
                <a:sym typeface="Roboto Bold"/>
              </a:rPr>
              <a:t>Source:</a:t>
            </a:r>
            <a:r>
              <a:rPr lang="en-US" sz="3192">
                <a:solidFill>
                  <a:srgbClr val="FFF9F0"/>
                </a:solidFill>
                <a:latin typeface="Roboto"/>
                <a:ea typeface="Roboto"/>
                <a:cs typeface="Roboto"/>
                <a:sym typeface="Roboto"/>
              </a:rPr>
              <a:t> Open-Meteo (Kaggle)</a:t>
            </a:r>
          </a:p>
          <a:p>
            <a:pPr algn="l" marL="689324" indent="-344662" lvl="1">
              <a:lnSpc>
                <a:spcPts val="3831"/>
              </a:lnSpc>
              <a:buFont typeface="Arial"/>
              <a:buChar char="•"/>
            </a:pPr>
            <a:r>
              <a:rPr lang="en-US" b="true" sz="3192">
                <a:solidFill>
                  <a:srgbClr val="FFF9F0"/>
                </a:solidFill>
                <a:latin typeface="Roboto Bold"/>
                <a:ea typeface="Roboto Bold"/>
                <a:cs typeface="Roboto Bold"/>
                <a:sym typeface="Roboto Bold"/>
              </a:rPr>
              <a:t>Focus:</a:t>
            </a:r>
            <a:r>
              <a:rPr lang="en-US" sz="3192">
                <a:solidFill>
                  <a:srgbClr val="FFF9F0"/>
                </a:solidFill>
                <a:latin typeface="Roboto"/>
                <a:ea typeface="Roboto"/>
                <a:cs typeface="Roboto"/>
                <a:sym typeface="Roboto"/>
              </a:rPr>
              <a:t> Temperature</a:t>
            </a:r>
          </a:p>
        </p:txBody>
      </p:sp>
      <p:sp>
        <p:nvSpPr>
          <p:cNvPr name="Freeform 14" id="14"/>
          <p:cNvSpPr/>
          <p:nvPr/>
        </p:nvSpPr>
        <p:spPr>
          <a:xfrm flipH="true" flipV="false" rot="0">
            <a:off x="-414963" y="1982618"/>
            <a:ext cx="2188846" cy="1242328"/>
          </a:xfrm>
          <a:custGeom>
            <a:avLst/>
            <a:gdLst/>
            <a:ahLst/>
            <a:cxnLst/>
            <a:rect r="r" b="b" t="t" l="l"/>
            <a:pathLst>
              <a:path h="1242328" w="2188846">
                <a:moveTo>
                  <a:pt x="2188846" y="0"/>
                </a:moveTo>
                <a:lnTo>
                  <a:pt x="0" y="0"/>
                </a:lnTo>
                <a:lnTo>
                  <a:pt x="0" y="1242328"/>
                </a:lnTo>
                <a:lnTo>
                  <a:pt x="2188846" y="1242328"/>
                </a:lnTo>
                <a:lnTo>
                  <a:pt x="2188846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171748" t="0" r="-227294" b="-707319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5" id="15"/>
          <p:cNvSpPr/>
          <p:nvPr/>
        </p:nvSpPr>
        <p:spPr>
          <a:xfrm flipH="true" flipV="false" rot="0">
            <a:off x="16517687" y="2982077"/>
            <a:ext cx="2188846" cy="1242328"/>
          </a:xfrm>
          <a:custGeom>
            <a:avLst/>
            <a:gdLst/>
            <a:ahLst/>
            <a:cxnLst/>
            <a:rect r="r" b="b" t="t" l="l"/>
            <a:pathLst>
              <a:path h="1242328" w="2188846">
                <a:moveTo>
                  <a:pt x="2188846" y="0"/>
                </a:moveTo>
                <a:lnTo>
                  <a:pt x="0" y="0"/>
                </a:lnTo>
                <a:lnTo>
                  <a:pt x="0" y="1242328"/>
                </a:lnTo>
                <a:lnTo>
                  <a:pt x="2188846" y="1242328"/>
                </a:lnTo>
                <a:lnTo>
                  <a:pt x="2188846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171748" t="0" r="-227294" b="-707319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D9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-1307348">
            <a:off x="-12820115" y="-161437"/>
            <a:ext cx="15747021" cy="14000534"/>
          </a:xfrm>
          <a:custGeom>
            <a:avLst/>
            <a:gdLst/>
            <a:ahLst/>
            <a:cxnLst/>
            <a:rect r="r" b="b" t="t" l="l"/>
            <a:pathLst>
              <a:path h="14000534" w="15747021">
                <a:moveTo>
                  <a:pt x="0" y="14000533"/>
                </a:moveTo>
                <a:lnTo>
                  <a:pt x="15747022" y="14000533"/>
                </a:lnTo>
                <a:lnTo>
                  <a:pt x="15747022" y="0"/>
                </a:lnTo>
                <a:lnTo>
                  <a:pt x="0" y="0"/>
                </a:lnTo>
                <a:lnTo>
                  <a:pt x="0" y="1400053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-1307348">
            <a:off x="11179928" y="330772"/>
            <a:ext cx="15747021" cy="14000534"/>
          </a:xfrm>
          <a:custGeom>
            <a:avLst/>
            <a:gdLst/>
            <a:ahLst/>
            <a:cxnLst/>
            <a:rect r="r" b="b" t="t" l="l"/>
            <a:pathLst>
              <a:path h="14000534" w="15747021">
                <a:moveTo>
                  <a:pt x="0" y="14000534"/>
                </a:moveTo>
                <a:lnTo>
                  <a:pt x="15747021" y="14000534"/>
                </a:lnTo>
                <a:lnTo>
                  <a:pt x="15747021" y="0"/>
                </a:lnTo>
                <a:lnTo>
                  <a:pt x="0" y="0"/>
                </a:lnTo>
                <a:lnTo>
                  <a:pt x="0" y="1400053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0" y="9366201"/>
            <a:ext cx="18288000" cy="943673"/>
            <a:chOff x="0" y="0"/>
            <a:chExt cx="4816593" cy="24853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16592" cy="248539"/>
            </a:xfrm>
            <a:custGeom>
              <a:avLst/>
              <a:gdLst/>
              <a:ahLst/>
              <a:cxnLst/>
              <a:rect r="r" b="b" t="t" l="l"/>
              <a:pathLst>
                <a:path h="248539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48539"/>
                  </a:lnTo>
                  <a:lnTo>
                    <a:pt x="0" y="248539"/>
                  </a:lnTo>
                  <a:close/>
                </a:path>
              </a:pathLst>
            </a:custGeom>
            <a:solidFill>
              <a:srgbClr val="464A39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4816593" cy="2961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851470" y="2213885"/>
            <a:ext cx="7203449" cy="3149194"/>
            <a:chOff x="0" y="0"/>
            <a:chExt cx="1897205" cy="82941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97205" cy="829417"/>
            </a:xfrm>
            <a:custGeom>
              <a:avLst/>
              <a:gdLst/>
              <a:ahLst/>
              <a:cxnLst/>
              <a:rect r="r" b="b" t="t" l="l"/>
              <a:pathLst>
                <a:path h="829417" w="1897205">
                  <a:moveTo>
                    <a:pt x="64485" y="0"/>
                  </a:moveTo>
                  <a:lnTo>
                    <a:pt x="1832720" y="0"/>
                  </a:lnTo>
                  <a:cubicBezTo>
                    <a:pt x="1849822" y="0"/>
                    <a:pt x="1866224" y="6794"/>
                    <a:pt x="1878318" y="18887"/>
                  </a:cubicBezTo>
                  <a:cubicBezTo>
                    <a:pt x="1890411" y="30981"/>
                    <a:pt x="1897205" y="47383"/>
                    <a:pt x="1897205" y="64485"/>
                  </a:cubicBezTo>
                  <a:lnTo>
                    <a:pt x="1897205" y="764932"/>
                  </a:lnTo>
                  <a:cubicBezTo>
                    <a:pt x="1897205" y="782035"/>
                    <a:pt x="1890411" y="798437"/>
                    <a:pt x="1878318" y="810530"/>
                  </a:cubicBezTo>
                  <a:cubicBezTo>
                    <a:pt x="1866224" y="822623"/>
                    <a:pt x="1849822" y="829417"/>
                    <a:pt x="1832720" y="829417"/>
                  </a:cubicBezTo>
                  <a:lnTo>
                    <a:pt x="64485" y="829417"/>
                  </a:lnTo>
                  <a:cubicBezTo>
                    <a:pt x="47383" y="829417"/>
                    <a:pt x="30981" y="822623"/>
                    <a:pt x="18887" y="810530"/>
                  </a:cubicBezTo>
                  <a:cubicBezTo>
                    <a:pt x="6794" y="798437"/>
                    <a:pt x="0" y="782035"/>
                    <a:pt x="0" y="764932"/>
                  </a:cubicBezTo>
                  <a:lnTo>
                    <a:pt x="0" y="64485"/>
                  </a:lnTo>
                  <a:cubicBezTo>
                    <a:pt x="0" y="47383"/>
                    <a:pt x="6794" y="30981"/>
                    <a:pt x="18887" y="18887"/>
                  </a:cubicBezTo>
                  <a:cubicBezTo>
                    <a:pt x="30981" y="6794"/>
                    <a:pt x="47383" y="0"/>
                    <a:pt x="64485" y="0"/>
                  </a:cubicBezTo>
                  <a:close/>
                </a:path>
              </a:pathLst>
            </a:custGeom>
            <a:solidFill>
              <a:srgbClr val="E14852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1897205" cy="8389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287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5621303" y="5096687"/>
            <a:ext cx="2433617" cy="5508186"/>
          </a:xfrm>
          <a:custGeom>
            <a:avLst/>
            <a:gdLst/>
            <a:ahLst/>
            <a:cxnLst/>
            <a:rect r="r" b="b" t="t" l="l"/>
            <a:pathLst>
              <a:path h="5508186" w="2433617">
                <a:moveTo>
                  <a:pt x="0" y="0"/>
                </a:moveTo>
                <a:lnTo>
                  <a:pt x="2433616" y="0"/>
                </a:lnTo>
                <a:lnTo>
                  <a:pt x="2433616" y="5508186"/>
                </a:lnTo>
                <a:lnTo>
                  <a:pt x="0" y="55081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1" id="11"/>
          <p:cNvSpPr txBox="true"/>
          <p:nvPr/>
        </p:nvSpPr>
        <p:spPr>
          <a:xfrm rot="0">
            <a:off x="833061" y="812851"/>
            <a:ext cx="5256783" cy="1060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00"/>
              </a:lnSpc>
            </a:pPr>
            <a:r>
              <a:rPr lang="en-US" b="true" sz="8000" spc="-400">
                <a:solidFill>
                  <a:srgbClr val="464A39"/>
                </a:solidFill>
                <a:latin typeface="Garet Ultra-Bold"/>
                <a:ea typeface="Garet Ultra-Bold"/>
                <a:cs typeface="Garet Ultra-Bold"/>
                <a:sym typeface="Garet Ultra-Bold"/>
              </a:rPr>
              <a:t>LINE PLOT</a:t>
            </a:r>
          </a:p>
        </p:txBody>
      </p:sp>
      <p:sp>
        <p:nvSpPr>
          <p:cNvPr name="Freeform 12" id="12"/>
          <p:cNvSpPr/>
          <p:nvPr/>
        </p:nvSpPr>
        <p:spPr>
          <a:xfrm flipH="true" flipV="false" rot="0">
            <a:off x="137202" y="244962"/>
            <a:ext cx="593479" cy="762392"/>
          </a:xfrm>
          <a:custGeom>
            <a:avLst/>
            <a:gdLst/>
            <a:ahLst/>
            <a:cxnLst/>
            <a:rect r="r" b="b" t="t" l="l"/>
            <a:pathLst>
              <a:path h="762392" w="593479">
                <a:moveTo>
                  <a:pt x="593479" y="0"/>
                </a:moveTo>
                <a:lnTo>
                  <a:pt x="0" y="0"/>
                </a:lnTo>
                <a:lnTo>
                  <a:pt x="0" y="762392"/>
                </a:lnTo>
                <a:lnTo>
                  <a:pt x="593479" y="762392"/>
                </a:lnTo>
                <a:lnTo>
                  <a:pt x="593479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6525924" y="8324256"/>
            <a:ext cx="438200" cy="562918"/>
          </a:xfrm>
          <a:custGeom>
            <a:avLst/>
            <a:gdLst/>
            <a:ahLst/>
            <a:cxnLst/>
            <a:rect r="r" b="b" t="t" l="l"/>
            <a:pathLst>
              <a:path h="562918" w="438200">
                <a:moveTo>
                  <a:pt x="0" y="0"/>
                </a:moveTo>
                <a:lnTo>
                  <a:pt x="438200" y="0"/>
                </a:lnTo>
                <a:lnTo>
                  <a:pt x="438200" y="562919"/>
                </a:lnTo>
                <a:lnTo>
                  <a:pt x="0" y="56291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true" flipV="false" rot="0">
            <a:off x="6089844" y="630973"/>
            <a:ext cx="2188846" cy="1242328"/>
          </a:xfrm>
          <a:custGeom>
            <a:avLst/>
            <a:gdLst/>
            <a:ahLst/>
            <a:cxnLst/>
            <a:rect r="r" b="b" t="t" l="l"/>
            <a:pathLst>
              <a:path h="1242328" w="2188846">
                <a:moveTo>
                  <a:pt x="2188846" y="0"/>
                </a:moveTo>
                <a:lnTo>
                  <a:pt x="0" y="0"/>
                </a:lnTo>
                <a:lnTo>
                  <a:pt x="0" y="1242328"/>
                </a:lnTo>
                <a:lnTo>
                  <a:pt x="2188846" y="1242328"/>
                </a:lnTo>
                <a:lnTo>
                  <a:pt x="2188846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171748" t="0" r="-227294" b="-707319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5" id="15"/>
          <p:cNvSpPr/>
          <p:nvPr/>
        </p:nvSpPr>
        <p:spPr>
          <a:xfrm flipH="true" flipV="false" rot="0">
            <a:off x="-1160146" y="3559361"/>
            <a:ext cx="2188846" cy="1242328"/>
          </a:xfrm>
          <a:custGeom>
            <a:avLst/>
            <a:gdLst/>
            <a:ahLst/>
            <a:cxnLst/>
            <a:rect r="r" b="b" t="t" l="l"/>
            <a:pathLst>
              <a:path h="1242328" w="2188846">
                <a:moveTo>
                  <a:pt x="2188846" y="0"/>
                </a:moveTo>
                <a:lnTo>
                  <a:pt x="0" y="0"/>
                </a:lnTo>
                <a:lnTo>
                  <a:pt x="0" y="1242328"/>
                </a:lnTo>
                <a:lnTo>
                  <a:pt x="2188846" y="1242328"/>
                </a:lnTo>
                <a:lnTo>
                  <a:pt x="2188846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171748" t="0" r="-227294" b="-707319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6" id="16"/>
          <p:cNvSpPr/>
          <p:nvPr/>
        </p:nvSpPr>
        <p:spPr>
          <a:xfrm flipH="false" flipV="false" rot="0">
            <a:off x="730681" y="1994306"/>
            <a:ext cx="9568448" cy="6206126"/>
          </a:xfrm>
          <a:custGeom>
            <a:avLst/>
            <a:gdLst/>
            <a:ahLst/>
            <a:cxnLst/>
            <a:rect r="r" b="b" t="t" l="l"/>
            <a:pathLst>
              <a:path h="6206126" w="9568448">
                <a:moveTo>
                  <a:pt x="0" y="0"/>
                </a:moveTo>
                <a:lnTo>
                  <a:pt x="9568448" y="0"/>
                </a:lnTo>
                <a:lnTo>
                  <a:pt x="9568448" y="6206125"/>
                </a:lnTo>
                <a:lnTo>
                  <a:pt x="0" y="620612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-1381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1192261" y="2855033"/>
            <a:ext cx="7095739" cy="1847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1"/>
              </a:lnSpc>
            </a:pPr>
            <a:r>
              <a:rPr lang="en-US" sz="3018">
                <a:solidFill>
                  <a:srgbClr val="FFF9F0"/>
                </a:solidFill>
                <a:latin typeface="Roboto"/>
                <a:ea typeface="Roboto"/>
                <a:cs typeface="Roboto"/>
                <a:sym typeface="Roboto"/>
              </a:rPr>
              <a:t>Temperature Increasing Over Time</a:t>
            </a:r>
          </a:p>
          <a:p>
            <a:pPr algn="l" marL="651627" indent="-325813" lvl="1">
              <a:lnSpc>
                <a:spcPts val="3621"/>
              </a:lnSpc>
              <a:buFont typeface="Arial"/>
              <a:buChar char="•"/>
            </a:pPr>
            <a:r>
              <a:rPr lang="en-US" sz="3018">
                <a:solidFill>
                  <a:srgbClr val="FFF9F0"/>
                </a:solidFill>
                <a:latin typeface="Roboto"/>
                <a:ea typeface="Roboto"/>
                <a:cs typeface="Roboto"/>
                <a:sym typeface="Roboto"/>
              </a:rPr>
              <a:t>General Upward trend after 2015</a:t>
            </a:r>
          </a:p>
          <a:p>
            <a:pPr algn="l" marL="651627" indent="-325813" lvl="1">
              <a:lnSpc>
                <a:spcPts val="3621"/>
              </a:lnSpc>
              <a:buFont typeface="Arial"/>
              <a:buChar char="•"/>
            </a:pPr>
            <a:r>
              <a:rPr lang="en-US" sz="3018">
                <a:solidFill>
                  <a:srgbClr val="FFF9F0"/>
                </a:solidFill>
                <a:latin typeface="Roboto"/>
                <a:ea typeface="Roboto"/>
                <a:cs typeface="Roboto"/>
                <a:sym typeface="Roboto"/>
              </a:rPr>
              <a:t>Noticeable rise in recent years</a:t>
            </a:r>
          </a:p>
          <a:p>
            <a:pPr algn="l" marL="651627" indent="-325813" lvl="1">
              <a:lnSpc>
                <a:spcPts val="3621"/>
              </a:lnSpc>
              <a:buFont typeface="Arial"/>
              <a:buChar char="•"/>
            </a:pPr>
            <a:r>
              <a:rPr lang="en-US" sz="3018">
                <a:solidFill>
                  <a:srgbClr val="FFF9F0"/>
                </a:solidFill>
                <a:latin typeface="Roboto"/>
                <a:ea typeface="Roboto"/>
                <a:cs typeface="Roboto"/>
                <a:sym typeface="Roboto"/>
              </a:rPr>
              <a:t>peak around 2024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D9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-1657803" y="6527429"/>
            <a:ext cx="25697971" cy="22847833"/>
          </a:xfrm>
          <a:custGeom>
            <a:avLst/>
            <a:gdLst/>
            <a:ahLst/>
            <a:cxnLst/>
            <a:rect r="r" b="b" t="t" l="l"/>
            <a:pathLst>
              <a:path h="22847833" w="25697971">
                <a:moveTo>
                  <a:pt x="0" y="22847832"/>
                </a:moveTo>
                <a:lnTo>
                  <a:pt x="25697971" y="22847832"/>
                </a:lnTo>
                <a:lnTo>
                  <a:pt x="25697971" y="0"/>
                </a:lnTo>
                <a:lnTo>
                  <a:pt x="0" y="0"/>
                </a:lnTo>
                <a:lnTo>
                  <a:pt x="0" y="2284783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9366201"/>
            <a:ext cx="18288000" cy="943673"/>
            <a:chOff x="0" y="0"/>
            <a:chExt cx="4816593" cy="24853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48539"/>
            </a:xfrm>
            <a:custGeom>
              <a:avLst/>
              <a:gdLst/>
              <a:ahLst/>
              <a:cxnLst/>
              <a:rect r="r" b="b" t="t" l="l"/>
              <a:pathLst>
                <a:path h="248539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48539"/>
                  </a:lnTo>
                  <a:lnTo>
                    <a:pt x="0" y="248539"/>
                  </a:lnTo>
                  <a:close/>
                </a:path>
              </a:pathLst>
            </a:custGeom>
            <a:solidFill>
              <a:srgbClr val="464A3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816593" cy="2961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869061" y="3022467"/>
            <a:ext cx="7117437" cy="2715945"/>
            <a:chOff x="0" y="0"/>
            <a:chExt cx="1874551" cy="71531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74551" cy="715311"/>
            </a:xfrm>
            <a:custGeom>
              <a:avLst/>
              <a:gdLst/>
              <a:ahLst/>
              <a:cxnLst/>
              <a:rect r="r" b="b" t="t" l="l"/>
              <a:pathLst>
                <a:path h="715311" w="1874551">
                  <a:moveTo>
                    <a:pt x="32632" y="0"/>
                  </a:moveTo>
                  <a:lnTo>
                    <a:pt x="1841919" y="0"/>
                  </a:lnTo>
                  <a:cubicBezTo>
                    <a:pt x="1850574" y="0"/>
                    <a:pt x="1858874" y="3438"/>
                    <a:pt x="1864994" y="9558"/>
                  </a:cubicBezTo>
                  <a:cubicBezTo>
                    <a:pt x="1871113" y="15677"/>
                    <a:pt x="1874551" y="23978"/>
                    <a:pt x="1874551" y="32632"/>
                  </a:cubicBezTo>
                  <a:lnTo>
                    <a:pt x="1874551" y="682679"/>
                  </a:lnTo>
                  <a:cubicBezTo>
                    <a:pt x="1874551" y="691333"/>
                    <a:pt x="1871113" y="699633"/>
                    <a:pt x="1864994" y="705753"/>
                  </a:cubicBezTo>
                  <a:cubicBezTo>
                    <a:pt x="1858874" y="711873"/>
                    <a:pt x="1850574" y="715311"/>
                    <a:pt x="1841919" y="715311"/>
                  </a:cubicBezTo>
                  <a:lnTo>
                    <a:pt x="32632" y="715311"/>
                  </a:lnTo>
                  <a:cubicBezTo>
                    <a:pt x="14610" y="715311"/>
                    <a:pt x="0" y="700701"/>
                    <a:pt x="0" y="682679"/>
                  </a:cubicBezTo>
                  <a:lnTo>
                    <a:pt x="0" y="32632"/>
                  </a:lnTo>
                  <a:cubicBezTo>
                    <a:pt x="0" y="23978"/>
                    <a:pt x="3438" y="15677"/>
                    <a:pt x="9558" y="9558"/>
                  </a:cubicBezTo>
                  <a:cubicBezTo>
                    <a:pt x="15677" y="3438"/>
                    <a:pt x="23978" y="0"/>
                    <a:pt x="32632" y="0"/>
                  </a:cubicBezTo>
                  <a:close/>
                </a:path>
              </a:pathLst>
            </a:custGeom>
            <a:solidFill>
              <a:srgbClr val="E14852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1874551" cy="7248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287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5952739" y="6664673"/>
            <a:ext cx="2400984" cy="4287472"/>
          </a:xfrm>
          <a:custGeom>
            <a:avLst/>
            <a:gdLst/>
            <a:ahLst/>
            <a:cxnLst/>
            <a:rect r="r" b="b" t="t" l="l"/>
            <a:pathLst>
              <a:path h="4287472" w="2400984">
                <a:moveTo>
                  <a:pt x="0" y="0"/>
                </a:moveTo>
                <a:lnTo>
                  <a:pt x="2400984" y="0"/>
                </a:lnTo>
                <a:lnTo>
                  <a:pt x="2400984" y="4287472"/>
                </a:lnTo>
                <a:lnTo>
                  <a:pt x="0" y="42874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0" id="10"/>
          <p:cNvSpPr txBox="true"/>
          <p:nvPr/>
        </p:nvSpPr>
        <p:spPr>
          <a:xfrm rot="0">
            <a:off x="11191182" y="3661789"/>
            <a:ext cx="8837037" cy="1352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999">
                <a:solidFill>
                  <a:srgbClr val="FFF9F0"/>
                </a:solidFill>
                <a:latin typeface="Roboto"/>
                <a:ea typeface="Roboto"/>
                <a:cs typeface="Roboto"/>
                <a:sym typeface="Roboto"/>
              </a:rPr>
              <a:t>Years vs Temperature Distribution</a:t>
            </a:r>
          </a:p>
          <a:p>
            <a:pPr algn="l" marL="647694" indent="-323847" lvl="1">
              <a:lnSpc>
                <a:spcPts val="3599"/>
              </a:lnSpc>
              <a:buFont typeface="Arial"/>
              <a:buChar char="•"/>
            </a:pPr>
            <a:r>
              <a:rPr lang="en-US" sz="2999">
                <a:solidFill>
                  <a:srgbClr val="FFF9F0"/>
                </a:solidFill>
                <a:latin typeface="Roboto"/>
                <a:ea typeface="Roboto"/>
                <a:cs typeface="Roboto"/>
                <a:sym typeface="Roboto"/>
              </a:rPr>
              <a:t>Data points show gradual increase</a:t>
            </a:r>
          </a:p>
          <a:p>
            <a:pPr algn="l" marL="647694" indent="-323847" lvl="1">
              <a:lnSpc>
                <a:spcPts val="3599"/>
              </a:lnSpc>
              <a:buFont typeface="Arial"/>
              <a:buChar char="•"/>
            </a:pPr>
            <a:r>
              <a:rPr lang="en-US" sz="2999">
                <a:solidFill>
                  <a:srgbClr val="FFF9F0"/>
                </a:solidFill>
                <a:latin typeface="Roboto"/>
                <a:ea typeface="Roboto"/>
                <a:cs typeface="Roboto"/>
                <a:sym typeface="Roboto"/>
              </a:rPr>
              <a:t>Later years cluster at higher values</a:t>
            </a:r>
          </a:p>
        </p:txBody>
      </p:sp>
      <p:sp>
        <p:nvSpPr>
          <p:cNvPr name="Freeform 11" id="11"/>
          <p:cNvSpPr/>
          <p:nvPr/>
        </p:nvSpPr>
        <p:spPr>
          <a:xfrm flipH="true" flipV="false" rot="0">
            <a:off x="9774638" y="645531"/>
            <a:ext cx="2188846" cy="1242328"/>
          </a:xfrm>
          <a:custGeom>
            <a:avLst/>
            <a:gdLst/>
            <a:ahLst/>
            <a:cxnLst/>
            <a:rect r="r" b="b" t="t" l="l"/>
            <a:pathLst>
              <a:path h="1242328" w="2188846">
                <a:moveTo>
                  <a:pt x="2188846" y="0"/>
                </a:moveTo>
                <a:lnTo>
                  <a:pt x="0" y="0"/>
                </a:lnTo>
                <a:lnTo>
                  <a:pt x="0" y="1242329"/>
                </a:lnTo>
                <a:lnTo>
                  <a:pt x="2188846" y="1242329"/>
                </a:lnTo>
                <a:lnTo>
                  <a:pt x="2188846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171748" t="0" r="-227294" b="-707319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2" id="12"/>
          <p:cNvSpPr/>
          <p:nvPr/>
        </p:nvSpPr>
        <p:spPr>
          <a:xfrm flipH="true" flipV="false" rot="0">
            <a:off x="-932639" y="3721663"/>
            <a:ext cx="2188846" cy="1242328"/>
          </a:xfrm>
          <a:custGeom>
            <a:avLst/>
            <a:gdLst/>
            <a:ahLst/>
            <a:cxnLst/>
            <a:rect r="r" b="b" t="t" l="l"/>
            <a:pathLst>
              <a:path h="1242328" w="2188846">
                <a:moveTo>
                  <a:pt x="2188845" y="0"/>
                </a:moveTo>
                <a:lnTo>
                  <a:pt x="0" y="0"/>
                </a:lnTo>
                <a:lnTo>
                  <a:pt x="0" y="1242328"/>
                </a:lnTo>
                <a:lnTo>
                  <a:pt x="2188845" y="1242328"/>
                </a:lnTo>
                <a:lnTo>
                  <a:pt x="2188845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171748" t="0" r="-227294" b="-707319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3" id="13"/>
          <p:cNvSpPr/>
          <p:nvPr/>
        </p:nvSpPr>
        <p:spPr>
          <a:xfrm flipH="true" flipV="false" rot="0">
            <a:off x="17259300" y="1780139"/>
            <a:ext cx="2188846" cy="1242328"/>
          </a:xfrm>
          <a:custGeom>
            <a:avLst/>
            <a:gdLst/>
            <a:ahLst/>
            <a:cxnLst/>
            <a:rect r="r" b="b" t="t" l="l"/>
            <a:pathLst>
              <a:path h="1242328" w="2188846">
                <a:moveTo>
                  <a:pt x="2188846" y="0"/>
                </a:moveTo>
                <a:lnTo>
                  <a:pt x="0" y="0"/>
                </a:lnTo>
                <a:lnTo>
                  <a:pt x="0" y="1242328"/>
                </a:lnTo>
                <a:lnTo>
                  <a:pt x="2188846" y="1242328"/>
                </a:lnTo>
                <a:lnTo>
                  <a:pt x="2188846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171748" t="0" r="-227294" b="-707319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4" id="14"/>
          <p:cNvSpPr/>
          <p:nvPr/>
        </p:nvSpPr>
        <p:spPr>
          <a:xfrm flipH="false" flipV="false" rot="0">
            <a:off x="469731" y="2401303"/>
            <a:ext cx="10035211" cy="6407106"/>
          </a:xfrm>
          <a:custGeom>
            <a:avLst/>
            <a:gdLst/>
            <a:ahLst/>
            <a:cxnLst/>
            <a:rect r="r" b="b" t="t" l="l"/>
            <a:pathLst>
              <a:path h="6407106" w="10035211">
                <a:moveTo>
                  <a:pt x="0" y="0"/>
                </a:moveTo>
                <a:lnTo>
                  <a:pt x="10035211" y="0"/>
                </a:lnTo>
                <a:lnTo>
                  <a:pt x="10035211" y="6407106"/>
                </a:lnTo>
                <a:lnTo>
                  <a:pt x="0" y="640710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2206" t="-861" r="0" b="-1553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469731" y="1181100"/>
            <a:ext cx="7835597" cy="1060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000"/>
              </a:lnSpc>
            </a:pPr>
            <a:r>
              <a:rPr lang="en-US" b="true" sz="8000" spc="-400">
                <a:solidFill>
                  <a:srgbClr val="464A39"/>
                </a:solidFill>
                <a:latin typeface="Garet Ultra-Bold"/>
                <a:ea typeface="Garet Ultra-Bold"/>
                <a:cs typeface="Garet Ultra-Bold"/>
                <a:sym typeface="Garet Ultra-Bold"/>
              </a:rPr>
              <a:t>SCATTER PLOT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D9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-2963055" y="2330483"/>
            <a:ext cx="25697971" cy="22847833"/>
          </a:xfrm>
          <a:custGeom>
            <a:avLst/>
            <a:gdLst/>
            <a:ahLst/>
            <a:cxnLst/>
            <a:rect r="r" b="b" t="t" l="l"/>
            <a:pathLst>
              <a:path h="22847833" w="25697971">
                <a:moveTo>
                  <a:pt x="0" y="22847832"/>
                </a:moveTo>
                <a:lnTo>
                  <a:pt x="25697971" y="22847832"/>
                </a:lnTo>
                <a:lnTo>
                  <a:pt x="25697971" y="0"/>
                </a:lnTo>
                <a:lnTo>
                  <a:pt x="0" y="0"/>
                </a:lnTo>
                <a:lnTo>
                  <a:pt x="0" y="2284783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9366201"/>
            <a:ext cx="18288000" cy="943673"/>
            <a:chOff x="0" y="0"/>
            <a:chExt cx="4816593" cy="24853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48539"/>
            </a:xfrm>
            <a:custGeom>
              <a:avLst/>
              <a:gdLst/>
              <a:ahLst/>
              <a:cxnLst/>
              <a:rect r="r" b="b" t="t" l="l"/>
              <a:pathLst>
                <a:path h="248539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48539"/>
                  </a:lnTo>
                  <a:lnTo>
                    <a:pt x="0" y="248539"/>
                  </a:lnTo>
                  <a:close/>
                </a:path>
              </a:pathLst>
            </a:custGeom>
            <a:solidFill>
              <a:srgbClr val="464A3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816593" cy="2961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4965942" y="4054045"/>
            <a:ext cx="2869365" cy="6494448"/>
          </a:xfrm>
          <a:custGeom>
            <a:avLst/>
            <a:gdLst/>
            <a:ahLst/>
            <a:cxnLst/>
            <a:rect r="r" b="b" t="t" l="l"/>
            <a:pathLst>
              <a:path h="6494448" w="2869365">
                <a:moveTo>
                  <a:pt x="0" y="0"/>
                </a:moveTo>
                <a:lnTo>
                  <a:pt x="2869365" y="0"/>
                </a:lnTo>
                <a:lnTo>
                  <a:pt x="2869365" y="6494449"/>
                </a:lnTo>
                <a:lnTo>
                  <a:pt x="0" y="64944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7" id="7"/>
          <p:cNvGrpSpPr/>
          <p:nvPr/>
        </p:nvGrpSpPr>
        <p:grpSpPr>
          <a:xfrm rot="0">
            <a:off x="2699355" y="5143500"/>
            <a:ext cx="11167514" cy="2189570"/>
            <a:chOff x="0" y="0"/>
            <a:chExt cx="2941238" cy="57667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941238" cy="576677"/>
            </a:xfrm>
            <a:custGeom>
              <a:avLst/>
              <a:gdLst/>
              <a:ahLst/>
              <a:cxnLst/>
              <a:rect r="r" b="b" t="t" l="l"/>
              <a:pathLst>
                <a:path h="576677" w="2941238">
                  <a:moveTo>
                    <a:pt x="41595" y="0"/>
                  </a:moveTo>
                  <a:lnTo>
                    <a:pt x="2899643" y="0"/>
                  </a:lnTo>
                  <a:cubicBezTo>
                    <a:pt x="2922615" y="0"/>
                    <a:pt x="2941238" y="18623"/>
                    <a:pt x="2941238" y="41595"/>
                  </a:cubicBezTo>
                  <a:lnTo>
                    <a:pt x="2941238" y="535082"/>
                  </a:lnTo>
                  <a:cubicBezTo>
                    <a:pt x="2941238" y="558054"/>
                    <a:pt x="2922615" y="576677"/>
                    <a:pt x="2899643" y="576677"/>
                  </a:cubicBezTo>
                  <a:lnTo>
                    <a:pt x="41595" y="576677"/>
                  </a:lnTo>
                  <a:cubicBezTo>
                    <a:pt x="18623" y="576677"/>
                    <a:pt x="0" y="558054"/>
                    <a:pt x="0" y="535082"/>
                  </a:cubicBezTo>
                  <a:lnTo>
                    <a:pt x="0" y="41595"/>
                  </a:lnTo>
                  <a:cubicBezTo>
                    <a:pt x="0" y="18623"/>
                    <a:pt x="18623" y="0"/>
                    <a:pt x="41595" y="0"/>
                  </a:cubicBezTo>
                  <a:close/>
                </a:path>
              </a:pathLst>
            </a:custGeom>
            <a:solidFill>
              <a:srgbClr val="E14852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2941238" cy="595727"/>
            </a:xfrm>
            <a:prstGeom prst="rect">
              <a:avLst/>
            </a:prstGeom>
          </p:spPr>
          <p:txBody>
            <a:bodyPr anchor="ctr" rtlCol="false" tIns="127000" lIns="127000" bIns="127000" rIns="127000"/>
            <a:lstStyle/>
            <a:p>
              <a:pPr algn="l" marL="604515" indent="-302257" lvl="1">
                <a:lnSpc>
                  <a:spcPts val="3359"/>
                </a:lnSpc>
                <a:buFont typeface="Arial"/>
                <a:buChar char="•"/>
              </a:pPr>
              <a:r>
                <a:rPr lang="en-US" sz="2799">
                  <a:solidFill>
                    <a:srgbClr val="FFF9F0"/>
                  </a:solidFill>
                  <a:latin typeface="Roboto"/>
                  <a:ea typeface="Roboto"/>
                  <a:cs typeface="Roboto"/>
                  <a:sym typeface="Roboto"/>
                </a:rPr>
                <a:t>Temperature increased from </a:t>
              </a:r>
              <a:r>
                <a:rPr lang="en-US" sz="2799">
                  <a:solidFill>
                    <a:srgbClr val="FFF9F0"/>
                  </a:solidFill>
                  <a:latin typeface="Roboto"/>
                  <a:ea typeface="Roboto"/>
                  <a:cs typeface="Roboto"/>
                  <a:sym typeface="Roboto"/>
                </a:rPr>
                <a:t>~22.2°C → ~23.9°C</a:t>
              </a:r>
            </a:p>
            <a:p>
              <a:pPr algn="l" marL="604515" indent="-302257" lvl="1">
                <a:lnSpc>
                  <a:spcPts val="3359"/>
                </a:lnSpc>
                <a:buFont typeface="Arial"/>
                <a:buChar char="•"/>
              </a:pPr>
              <a:r>
                <a:rPr lang="en-US" sz="2799">
                  <a:solidFill>
                    <a:srgbClr val="FFF9F0"/>
                  </a:solidFill>
                  <a:latin typeface="Roboto"/>
                  <a:ea typeface="Roboto"/>
                  <a:cs typeface="Roboto"/>
                  <a:sym typeface="Roboto"/>
                </a:rPr>
                <a:t>Total increase  ≈ +1.7°C</a:t>
              </a:r>
            </a:p>
            <a:p>
              <a:pPr algn="l" marL="604515" indent="-302257" lvl="1">
                <a:lnSpc>
                  <a:spcPts val="335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799">
                  <a:solidFill>
                    <a:srgbClr val="FFF9F0"/>
                  </a:solidFill>
                  <a:latin typeface="Roboto"/>
                  <a:ea typeface="Roboto"/>
                  <a:cs typeface="Roboto"/>
                  <a:sym typeface="Roboto"/>
                </a:rPr>
                <a:t>Clear evidence of warming trend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473932" y="258578"/>
            <a:ext cx="3495868" cy="4143809"/>
          </a:xfrm>
          <a:custGeom>
            <a:avLst/>
            <a:gdLst/>
            <a:ahLst/>
            <a:cxnLst/>
            <a:rect r="r" b="b" t="t" l="l"/>
            <a:pathLst>
              <a:path h="4143809" w="3495868">
                <a:moveTo>
                  <a:pt x="0" y="0"/>
                </a:moveTo>
                <a:lnTo>
                  <a:pt x="3495868" y="0"/>
                </a:lnTo>
                <a:lnTo>
                  <a:pt x="3495868" y="4143809"/>
                </a:lnTo>
                <a:lnTo>
                  <a:pt x="0" y="41438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4618466" y="748012"/>
            <a:ext cx="2188846" cy="1242328"/>
          </a:xfrm>
          <a:custGeom>
            <a:avLst/>
            <a:gdLst/>
            <a:ahLst/>
            <a:cxnLst/>
            <a:rect r="r" b="b" t="t" l="l"/>
            <a:pathLst>
              <a:path h="1242328" w="2188846">
                <a:moveTo>
                  <a:pt x="0" y="0"/>
                </a:moveTo>
                <a:lnTo>
                  <a:pt x="2188846" y="0"/>
                </a:lnTo>
                <a:lnTo>
                  <a:pt x="2188846" y="1242328"/>
                </a:lnTo>
                <a:lnTo>
                  <a:pt x="0" y="124232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171748" t="0" r="-227294" b="-707319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2" id="12"/>
          <p:cNvSpPr txBox="true"/>
          <p:nvPr/>
        </p:nvSpPr>
        <p:spPr>
          <a:xfrm rot="0">
            <a:off x="3526091" y="2778643"/>
            <a:ext cx="11439852" cy="1060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00"/>
              </a:lnSpc>
            </a:pPr>
            <a:r>
              <a:rPr lang="en-US" b="true" sz="8000" spc="-400">
                <a:solidFill>
                  <a:srgbClr val="464A39"/>
                </a:solidFill>
                <a:latin typeface="Garet Ultra-Bold"/>
                <a:ea typeface="Garet Ultra-Bold"/>
                <a:cs typeface="Garet Ultra-Bold"/>
                <a:sym typeface="Garet Ultra-Bold"/>
              </a:rPr>
              <a:t>KEY INSIGHTS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5306202" y="1990340"/>
            <a:ext cx="2188846" cy="1242328"/>
          </a:xfrm>
          <a:custGeom>
            <a:avLst/>
            <a:gdLst/>
            <a:ahLst/>
            <a:cxnLst/>
            <a:rect r="r" b="b" t="t" l="l"/>
            <a:pathLst>
              <a:path h="1242328" w="2188846">
                <a:moveTo>
                  <a:pt x="0" y="0"/>
                </a:moveTo>
                <a:lnTo>
                  <a:pt x="2188846" y="0"/>
                </a:lnTo>
                <a:lnTo>
                  <a:pt x="2188846" y="1242329"/>
                </a:lnTo>
                <a:lnTo>
                  <a:pt x="0" y="124232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171748" t="0" r="-227294" b="-707319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D9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-4071020" y="2421541"/>
            <a:ext cx="25697971" cy="22847833"/>
          </a:xfrm>
          <a:custGeom>
            <a:avLst/>
            <a:gdLst/>
            <a:ahLst/>
            <a:cxnLst/>
            <a:rect r="r" b="b" t="t" l="l"/>
            <a:pathLst>
              <a:path h="22847833" w="25697971">
                <a:moveTo>
                  <a:pt x="25697971" y="22847832"/>
                </a:moveTo>
                <a:lnTo>
                  <a:pt x="0" y="22847832"/>
                </a:lnTo>
                <a:lnTo>
                  <a:pt x="0" y="0"/>
                </a:lnTo>
                <a:lnTo>
                  <a:pt x="25697971" y="0"/>
                </a:lnTo>
                <a:lnTo>
                  <a:pt x="25697971" y="2284783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9366201"/>
            <a:ext cx="18288000" cy="943673"/>
            <a:chOff x="0" y="0"/>
            <a:chExt cx="4816593" cy="24853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48539"/>
            </a:xfrm>
            <a:custGeom>
              <a:avLst/>
              <a:gdLst/>
              <a:ahLst/>
              <a:cxnLst/>
              <a:rect r="r" b="b" t="t" l="l"/>
              <a:pathLst>
                <a:path h="248539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48539"/>
                  </a:lnTo>
                  <a:lnTo>
                    <a:pt x="0" y="248539"/>
                  </a:lnTo>
                  <a:close/>
                </a:path>
              </a:pathLst>
            </a:custGeom>
            <a:solidFill>
              <a:srgbClr val="464A3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816593" cy="2961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1384114" y="1990340"/>
            <a:ext cx="6641622" cy="3153160"/>
            <a:chOff x="0" y="0"/>
            <a:chExt cx="1749234" cy="83046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49234" cy="830462"/>
            </a:xfrm>
            <a:custGeom>
              <a:avLst/>
              <a:gdLst/>
              <a:ahLst/>
              <a:cxnLst/>
              <a:rect r="r" b="b" t="t" l="l"/>
              <a:pathLst>
                <a:path h="830462" w="1749234">
                  <a:moveTo>
                    <a:pt x="34970" y="0"/>
                  </a:moveTo>
                  <a:lnTo>
                    <a:pt x="1714264" y="0"/>
                  </a:lnTo>
                  <a:cubicBezTo>
                    <a:pt x="1723538" y="0"/>
                    <a:pt x="1732433" y="3684"/>
                    <a:pt x="1738991" y="10242"/>
                  </a:cubicBezTo>
                  <a:cubicBezTo>
                    <a:pt x="1745549" y="16801"/>
                    <a:pt x="1749234" y="25695"/>
                    <a:pt x="1749234" y="34970"/>
                  </a:cubicBezTo>
                  <a:lnTo>
                    <a:pt x="1749234" y="795492"/>
                  </a:lnTo>
                  <a:cubicBezTo>
                    <a:pt x="1749234" y="804766"/>
                    <a:pt x="1745549" y="813661"/>
                    <a:pt x="1738991" y="820219"/>
                  </a:cubicBezTo>
                  <a:cubicBezTo>
                    <a:pt x="1732433" y="826777"/>
                    <a:pt x="1723538" y="830462"/>
                    <a:pt x="1714264" y="830462"/>
                  </a:cubicBezTo>
                  <a:lnTo>
                    <a:pt x="34970" y="830462"/>
                  </a:lnTo>
                  <a:cubicBezTo>
                    <a:pt x="25695" y="830462"/>
                    <a:pt x="16801" y="826777"/>
                    <a:pt x="10242" y="820219"/>
                  </a:cubicBezTo>
                  <a:cubicBezTo>
                    <a:pt x="3684" y="813661"/>
                    <a:pt x="0" y="804766"/>
                    <a:pt x="0" y="795492"/>
                  </a:cubicBezTo>
                  <a:lnTo>
                    <a:pt x="0" y="34970"/>
                  </a:lnTo>
                  <a:cubicBezTo>
                    <a:pt x="0" y="25695"/>
                    <a:pt x="3684" y="16801"/>
                    <a:pt x="10242" y="10242"/>
                  </a:cubicBezTo>
                  <a:cubicBezTo>
                    <a:pt x="16801" y="3684"/>
                    <a:pt x="25695" y="0"/>
                    <a:pt x="34970" y="0"/>
                  </a:cubicBezTo>
                  <a:close/>
                </a:path>
              </a:pathLst>
            </a:custGeom>
            <a:solidFill>
              <a:srgbClr val="E14852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1749234" cy="8399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287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0" y="929890"/>
            <a:ext cx="11909707" cy="1060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00"/>
              </a:lnSpc>
            </a:pPr>
            <a:r>
              <a:rPr lang="en-US" b="true" sz="8000" spc="-400">
                <a:solidFill>
                  <a:srgbClr val="464A39"/>
                </a:solidFill>
                <a:latin typeface="Garet Ultra-Bold"/>
                <a:ea typeface="Garet Ultra-Bold"/>
                <a:cs typeface="Garet Ultra-Bold"/>
                <a:sym typeface="Garet Ultra-Bold"/>
              </a:rPr>
              <a:t>REGRESSION ANALYSIS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604395" y="2412016"/>
            <a:ext cx="6201060" cy="2247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999">
                <a:solidFill>
                  <a:srgbClr val="FFF9F0"/>
                </a:solidFill>
                <a:latin typeface="Roboto"/>
                <a:ea typeface="Roboto"/>
                <a:cs typeface="Roboto"/>
                <a:sym typeface="Roboto"/>
              </a:rPr>
              <a:t> Positive Trend Confirmed</a:t>
            </a:r>
          </a:p>
          <a:p>
            <a:pPr algn="l" marL="647694" indent="-323847" lvl="1">
              <a:lnSpc>
                <a:spcPts val="3599"/>
              </a:lnSpc>
              <a:buFont typeface="Arial"/>
              <a:buChar char="•"/>
            </a:pPr>
            <a:r>
              <a:rPr lang="en-US" sz="2999">
                <a:solidFill>
                  <a:srgbClr val="FFF9F0"/>
                </a:solidFill>
                <a:latin typeface="Roboto"/>
                <a:ea typeface="Roboto"/>
                <a:cs typeface="Roboto"/>
                <a:sym typeface="Roboto"/>
              </a:rPr>
              <a:t>Regression line shows positive slope</a:t>
            </a:r>
          </a:p>
          <a:p>
            <a:pPr algn="l" marL="647694" indent="-323847" lvl="1">
              <a:lnSpc>
                <a:spcPts val="3599"/>
              </a:lnSpc>
              <a:buFont typeface="Arial"/>
              <a:buChar char="•"/>
            </a:pPr>
            <a:r>
              <a:rPr lang="en-US" sz="2999">
                <a:solidFill>
                  <a:srgbClr val="FFF9F0"/>
                </a:solidFill>
                <a:latin typeface="Roboto"/>
                <a:ea typeface="Roboto"/>
                <a:cs typeface="Roboto"/>
                <a:sym typeface="Roboto"/>
              </a:rPr>
              <a:t>Temperature rises consistently over time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5864412" y="5397775"/>
            <a:ext cx="2161324" cy="4912099"/>
          </a:xfrm>
          <a:custGeom>
            <a:avLst/>
            <a:gdLst/>
            <a:ahLst/>
            <a:cxnLst/>
            <a:rect r="r" b="b" t="t" l="l"/>
            <a:pathLst>
              <a:path h="4912099" w="2161324">
                <a:moveTo>
                  <a:pt x="0" y="0"/>
                </a:moveTo>
                <a:lnTo>
                  <a:pt x="2161324" y="0"/>
                </a:lnTo>
                <a:lnTo>
                  <a:pt x="2161324" y="4912100"/>
                </a:lnTo>
                <a:lnTo>
                  <a:pt x="0" y="49121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false" rot="0">
            <a:off x="8349528" y="-163713"/>
            <a:ext cx="2188846" cy="1242328"/>
          </a:xfrm>
          <a:custGeom>
            <a:avLst/>
            <a:gdLst/>
            <a:ahLst/>
            <a:cxnLst/>
            <a:rect r="r" b="b" t="t" l="l"/>
            <a:pathLst>
              <a:path h="1242328" w="2188846">
                <a:moveTo>
                  <a:pt x="2188845" y="0"/>
                </a:moveTo>
                <a:lnTo>
                  <a:pt x="0" y="0"/>
                </a:lnTo>
                <a:lnTo>
                  <a:pt x="0" y="1242328"/>
                </a:lnTo>
                <a:lnTo>
                  <a:pt x="2188845" y="1242328"/>
                </a:lnTo>
                <a:lnTo>
                  <a:pt x="2188845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171748" t="0" r="-227294" b="-707319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16099154" y="981567"/>
            <a:ext cx="2188846" cy="1242328"/>
          </a:xfrm>
          <a:custGeom>
            <a:avLst/>
            <a:gdLst/>
            <a:ahLst/>
            <a:cxnLst/>
            <a:rect r="r" b="b" t="t" l="l"/>
            <a:pathLst>
              <a:path h="1242328" w="2188846">
                <a:moveTo>
                  <a:pt x="0" y="0"/>
                </a:moveTo>
                <a:lnTo>
                  <a:pt x="2188846" y="0"/>
                </a:lnTo>
                <a:lnTo>
                  <a:pt x="2188846" y="1242328"/>
                </a:lnTo>
                <a:lnTo>
                  <a:pt x="0" y="12423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171748" t="0" r="-227294" b="-707319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4" id="14"/>
          <p:cNvSpPr/>
          <p:nvPr/>
        </p:nvSpPr>
        <p:spPr>
          <a:xfrm flipH="false" flipV="false" rot="0">
            <a:off x="389257" y="2223895"/>
            <a:ext cx="10409689" cy="6647439"/>
          </a:xfrm>
          <a:custGeom>
            <a:avLst/>
            <a:gdLst/>
            <a:ahLst/>
            <a:cxnLst/>
            <a:rect r="r" b="b" t="t" l="l"/>
            <a:pathLst>
              <a:path h="6647439" w="10409689">
                <a:moveTo>
                  <a:pt x="0" y="0"/>
                </a:moveTo>
                <a:lnTo>
                  <a:pt x="10409688" y="0"/>
                </a:lnTo>
                <a:lnTo>
                  <a:pt x="10409688" y="6647440"/>
                </a:lnTo>
                <a:lnTo>
                  <a:pt x="0" y="664744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1005" t="-1056" r="0" b="-136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D9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7052497">
            <a:off x="985404" y="-4279664"/>
            <a:ext cx="15747021" cy="14000534"/>
          </a:xfrm>
          <a:custGeom>
            <a:avLst/>
            <a:gdLst/>
            <a:ahLst/>
            <a:cxnLst/>
            <a:rect r="r" b="b" t="t" l="l"/>
            <a:pathLst>
              <a:path h="14000534" w="15747021">
                <a:moveTo>
                  <a:pt x="0" y="14000533"/>
                </a:moveTo>
                <a:lnTo>
                  <a:pt x="15747022" y="14000533"/>
                </a:lnTo>
                <a:lnTo>
                  <a:pt x="15747022" y="0"/>
                </a:lnTo>
                <a:lnTo>
                  <a:pt x="0" y="0"/>
                </a:lnTo>
                <a:lnTo>
                  <a:pt x="0" y="1400053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9366201"/>
            <a:ext cx="18288000" cy="943673"/>
            <a:chOff x="0" y="0"/>
            <a:chExt cx="4816593" cy="24853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48539"/>
            </a:xfrm>
            <a:custGeom>
              <a:avLst/>
              <a:gdLst/>
              <a:ahLst/>
              <a:cxnLst/>
              <a:rect r="r" b="b" t="t" l="l"/>
              <a:pathLst>
                <a:path h="248539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48539"/>
                  </a:lnTo>
                  <a:lnTo>
                    <a:pt x="0" y="248539"/>
                  </a:lnTo>
                  <a:close/>
                </a:path>
              </a:pathLst>
            </a:custGeom>
            <a:solidFill>
              <a:srgbClr val="464A3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816593" cy="2961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5976423" y="5845644"/>
            <a:ext cx="1401307" cy="5625684"/>
          </a:xfrm>
          <a:custGeom>
            <a:avLst/>
            <a:gdLst/>
            <a:ahLst/>
            <a:cxnLst/>
            <a:rect r="r" b="b" t="t" l="l"/>
            <a:pathLst>
              <a:path h="5625684" w="1401307">
                <a:moveTo>
                  <a:pt x="0" y="0"/>
                </a:moveTo>
                <a:lnTo>
                  <a:pt x="1401307" y="0"/>
                </a:lnTo>
                <a:lnTo>
                  <a:pt x="1401307" y="5625684"/>
                </a:lnTo>
                <a:lnTo>
                  <a:pt x="0" y="56256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7" id="7"/>
          <p:cNvGrpSpPr/>
          <p:nvPr/>
        </p:nvGrpSpPr>
        <p:grpSpPr>
          <a:xfrm rot="0">
            <a:off x="11898529" y="2413724"/>
            <a:ext cx="6244276" cy="3431920"/>
            <a:chOff x="0" y="0"/>
            <a:chExt cx="1644583" cy="9038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644583" cy="903880"/>
            </a:xfrm>
            <a:custGeom>
              <a:avLst/>
              <a:gdLst/>
              <a:ahLst/>
              <a:cxnLst/>
              <a:rect r="r" b="b" t="t" l="l"/>
              <a:pathLst>
                <a:path h="903880" w="1644583">
                  <a:moveTo>
                    <a:pt x="74391" y="0"/>
                  </a:moveTo>
                  <a:lnTo>
                    <a:pt x="1570193" y="0"/>
                  </a:lnTo>
                  <a:cubicBezTo>
                    <a:pt x="1611277" y="0"/>
                    <a:pt x="1644583" y="33306"/>
                    <a:pt x="1644583" y="74391"/>
                  </a:cubicBezTo>
                  <a:lnTo>
                    <a:pt x="1644583" y="829490"/>
                  </a:lnTo>
                  <a:cubicBezTo>
                    <a:pt x="1644583" y="870574"/>
                    <a:pt x="1611277" y="903880"/>
                    <a:pt x="1570193" y="903880"/>
                  </a:cubicBezTo>
                  <a:lnTo>
                    <a:pt x="74391" y="903880"/>
                  </a:lnTo>
                  <a:cubicBezTo>
                    <a:pt x="33306" y="903880"/>
                    <a:pt x="0" y="870574"/>
                    <a:pt x="0" y="829490"/>
                  </a:cubicBezTo>
                  <a:lnTo>
                    <a:pt x="0" y="74391"/>
                  </a:lnTo>
                  <a:cubicBezTo>
                    <a:pt x="0" y="33306"/>
                    <a:pt x="33306" y="0"/>
                    <a:pt x="74391" y="0"/>
                  </a:cubicBezTo>
                  <a:close/>
                </a:path>
              </a:pathLst>
            </a:custGeom>
            <a:solidFill>
              <a:srgbClr val="E14852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1644583" cy="9134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287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4372422" y="7033591"/>
            <a:ext cx="891056" cy="1144664"/>
          </a:xfrm>
          <a:custGeom>
            <a:avLst/>
            <a:gdLst/>
            <a:ahLst/>
            <a:cxnLst/>
            <a:rect r="r" b="b" t="t" l="l"/>
            <a:pathLst>
              <a:path h="1144664" w="891056">
                <a:moveTo>
                  <a:pt x="0" y="0"/>
                </a:moveTo>
                <a:lnTo>
                  <a:pt x="891056" y="0"/>
                </a:lnTo>
                <a:lnTo>
                  <a:pt x="891056" y="1144664"/>
                </a:lnTo>
                <a:lnTo>
                  <a:pt x="0" y="114466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false" rot="0">
            <a:off x="199577" y="0"/>
            <a:ext cx="593479" cy="762392"/>
          </a:xfrm>
          <a:custGeom>
            <a:avLst/>
            <a:gdLst/>
            <a:ahLst/>
            <a:cxnLst/>
            <a:rect r="r" b="b" t="t" l="l"/>
            <a:pathLst>
              <a:path h="762392" w="593479">
                <a:moveTo>
                  <a:pt x="593478" y="0"/>
                </a:moveTo>
                <a:lnTo>
                  <a:pt x="0" y="0"/>
                </a:lnTo>
                <a:lnTo>
                  <a:pt x="0" y="762392"/>
                </a:lnTo>
                <a:lnTo>
                  <a:pt x="593478" y="762392"/>
                </a:lnTo>
                <a:lnTo>
                  <a:pt x="59347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2084759" y="2777134"/>
            <a:ext cx="6357438" cy="2695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999">
                <a:solidFill>
                  <a:srgbClr val="FFF9F0"/>
                </a:solidFill>
                <a:latin typeface="Roboto"/>
                <a:ea typeface="Roboto"/>
                <a:cs typeface="Roboto"/>
                <a:sym typeface="Roboto"/>
              </a:rPr>
              <a:t>Summer vs Winter</a:t>
            </a:r>
          </a:p>
          <a:p>
            <a:pPr algn="l" marL="647694" indent="-323847" lvl="1">
              <a:lnSpc>
                <a:spcPts val="3599"/>
              </a:lnSpc>
              <a:buFont typeface="Arial"/>
              <a:buChar char="•"/>
            </a:pPr>
            <a:r>
              <a:rPr lang="en-US" sz="2999">
                <a:solidFill>
                  <a:srgbClr val="FFF9F0"/>
                </a:solidFill>
                <a:latin typeface="Roboto"/>
                <a:ea typeface="Roboto"/>
                <a:cs typeface="Roboto"/>
                <a:sym typeface="Roboto"/>
              </a:rPr>
              <a:t>Summer temperatures increase significantly</a:t>
            </a:r>
          </a:p>
          <a:p>
            <a:pPr algn="l" marL="647694" indent="-323847" lvl="1">
              <a:lnSpc>
                <a:spcPts val="3599"/>
              </a:lnSpc>
              <a:buFont typeface="Arial"/>
              <a:buChar char="•"/>
            </a:pPr>
            <a:r>
              <a:rPr lang="en-US" sz="2999">
                <a:solidFill>
                  <a:srgbClr val="FFF9F0"/>
                </a:solidFill>
                <a:latin typeface="Roboto"/>
                <a:ea typeface="Roboto"/>
                <a:cs typeface="Roboto"/>
                <a:sym typeface="Roboto"/>
              </a:rPr>
              <a:t>Winter remains relatively stable</a:t>
            </a:r>
          </a:p>
          <a:p>
            <a:pPr algn="l" marL="647694" indent="-323847" lvl="1">
              <a:lnSpc>
                <a:spcPts val="3599"/>
              </a:lnSpc>
              <a:buFont typeface="Arial"/>
              <a:buChar char="•"/>
            </a:pPr>
            <a:r>
              <a:rPr lang="en-US" sz="2999">
                <a:solidFill>
                  <a:srgbClr val="FFF9F0"/>
                </a:solidFill>
                <a:latin typeface="Roboto"/>
                <a:ea typeface="Roboto"/>
                <a:cs typeface="Roboto"/>
                <a:sym typeface="Roboto"/>
              </a:rPr>
              <a:t>Warming mainly driven by summer</a:t>
            </a:r>
          </a:p>
        </p:txBody>
      </p:sp>
      <p:sp>
        <p:nvSpPr>
          <p:cNvPr name="Freeform 13" id="13"/>
          <p:cNvSpPr/>
          <p:nvPr/>
        </p:nvSpPr>
        <p:spPr>
          <a:xfrm flipH="true" flipV="false" rot="0">
            <a:off x="-436991" y="762392"/>
            <a:ext cx="2188846" cy="1242328"/>
          </a:xfrm>
          <a:custGeom>
            <a:avLst/>
            <a:gdLst/>
            <a:ahLst/>
            <a:cxnLst/>
            <a:rect r="r" b="b" t="t" l="l"/>
            <a:pathLst>
              <a:path h="1242328" w="2188846">
                <a:moveTo>
                  <a:pt x="2188846" y="0"/>
                </a:moveTo>
                <a:lnTo>
                  <a:pt x="0" y="0"/>
                </a:lnTo>
                <a:lnTo>
                  <a:pt x="0" y="1242328"/>
                </a:lnTo>
                <a:lnTo>
                  <a:pt x="2188846" y="1242328"/>
                </a:lnTo>
                <a:lnTo>
                  <a:pt x="2188846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171748" t="0" r="-227294" b="-707319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4" id="14"/>
          <p:cNvSpPr/>
          <p:nvPr/>
        </p:nvSpPr>
        <p:spPr>
          <a:xfrm flipH="true" flipV="false" rot="0">
            <a:off x="15976423" y="-89522"/>
            <a:ext cx="2188846" cy="1242328"/>
          </a:xfrm>
          <a:custGeom>
            <a:avLst/>
            <a:gdLst/>
            <a:ahLst/>
            <a:cxnLst/>
            <a:rect r="r" b="b" t="t" l="l"/>
            <a:pathLst>
              <a:path h="1242328" w="2188846">
                <a:moveTo>
                  <a:pt x="2188846" y="0"/>
                </a:moveTo>
                <a:lnTo>
                  <a:pt x="0" y="0"/>
                </a:lnTo>
                <a:lnTo>
                  <a:pt x="0" y="1242328"/>
                </a:lnTo>
                <a:lnTo>
                  <a:pt x="2188846" y="1242328"/>
                </a:lnTo>
                <a:lnTo>
                  <a:pt x="2188846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171748" t="0" r="-227294" b="-707319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5" id="15"/>
          <p:cNvSpPr/>
          <p:nvPr/>
        </p:nvSpPr>
        <p:spPr>
          <a:xfrm flipH="false" flipV="false" rot="0">
            <a:off x="309717" y="2078929"/>
            <a:ext cx="11478671" cy="6579557"/>
          </a:xfrm>
          <a:custGeom>
            <a:avLst/>
            <a:gdLst/>
            <a:ahLst/>
            <a:cxnLst/>
            <a:rect r="r" b="b" t="t" l="l"/>
            <a:pathLst>
              <a:path h="6579557" w="11478671">
                <a:moveTo>
                  <a:pt x="0" y="0"/>
                </a:moveTo>
                <a:lnTo>
                  <a:pt x="11478671" y="0"/>
                </a:lnTo>
                <a:lnTo>
                  <a:pt x="11478671" y="6579557"/>
                </a:lnTo>
                <a:lnTo>
                  <a:pt x="0" y="657955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2855" t="0" r="-2982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99577" y="684042"/>
            <a:ext cx="11698952" cy="1060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00"/>
              </a:lnSpc>
            </a:pPr>
            <a:r>
              <a:rPr lang="en-US" b="true" sz="8000" spc="-400">
                <a:solidFill>
                  <a:srgbClr val="464A39"/>
                </a:solidFill>
                <a:latin typeface="Garet Ultra-Bold"/>
                <a:ea typeface="Garet Ultra-Bold"/>
                <a:cs typeface="Garet Ultra-Bold"/>
                <a:sym typeface="Garet Ultra-Bold"/>
              </a:rPr>
              <a:t>SEASONAL ANALYSIS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D9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-3967597">
            <a:off x="10301100" y="5544783"/>
            <a:ext cx="15531216" cy="13808663"/>
          </a:xfrm>
          <a:custGeom>
            <a:avLst/>
            <a:gdLst/>
            <a:ahLst/>
            <a:cxnLst/>
            <a:rect r="r" b="b" t="t" l="l"/>
            <a:pathLst>
              <a:path h="13808663" w="15531216">
                <a:moveTo>
                  <a:pt x="0" y="13808663"/>
                </a:moveTo>
                <a:lnTo>
                  <a:pt x="15531216" y="13808663"/>
                </a:lnTo>
                <a:lnTo>
                  <a:pt x="15531216" y="0"/>
                </a:lnTo>
                <a:lnTo>
                  <a:pt x="0" y="0"/>
                </a:lnTo>
                <a:lnTo>
                  <a:pt x="0" y="1380866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-3620985">
            <a:off x="-6960459" y="2461870"/>
            <a:ext cx="15531216" cy="13808663"/>
          </a:xfrm>
          <a:custGeom>
            <a:avLst/>
            <a:gdLst/>
            <a:ahLst/>
            <a:cxnLst/>
            <a:rect r="r" b="b" t="t" l="l"/>
            <a:pathLst>
              <a:path h="13808663" w="15531216">
                <a:moveTo>
                  <a:pt x="0" y="13808663"/>
                </a:moveTo>
                <a:lnTo>
                  <a:pt x="15531216" y="13808663"/>
                </a:lnTo>
                <a:lnTo>
                  <a:pt x="15531216" y="0"/>
                </a:lnTo>
                <a:lnTo>
                  <a:pt x="0" y="0"/>
                </a:lnTo>
                <a:lnTo>
                  <a:pt x="0" y="1380866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0" y="9366201"/>
            <a:ext cx="18288000" cy="943673"/>
            <a:chOff x="0" y="0"/>
            <a:chExt cx="4816593" cy="24853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16592" cy="248539"/>
            </a:xfrm>
            <a:custGeom>
              <a:avLst/>
              <a:gdLst/>
              <a:ahLst/>
              <a:cxnLst/>
              <a:rect r="r" b="b" t="t" l="l"/>
              <a:pathLst>
                <a:path h="248539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48539"/>
                  </a:lnTo>
                  <a:lnTo>
                    <a:pt x="0" y="248539"/>
                  </a:lnTo>
                  <a:close/>
                </a:path>
              </a:pathLst>
            </a:custGeom>
            <a:solidFill>
              <a:srgbClr val="464A39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4816593" cy="2961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true" flipV="false" rot="0">
            <a:off x="-7425118" y="1597409"/>
            <a:ext cx="12062771" cy="11821515"/>
          </a:xfrm>
          <a:custGeom>
            <a:avLst/>
            <a:gdLst/>
            <a:ahLst/>
            <a:cxnLst/>
            <a:rect r="r" b="b" t="t" l="l"/>
            <a:pathLst>
              <a:path h="11821515" w="12062771">
                <a:moveTo>
                  <a:pt x="12062771" y="0"/>
                </a:moveTo>
                <a:lnTo>
                  <a:pt x="0" y="0"/>
                </a:lnTo>
                <a:lnTo>
                  <a:pt x="0" y="11821515"/>
                </a:lnTo>
                <a:lnTo>
                  <a:pt x="12062771" y="11821515"/>
                </a:lnTo>
                <a:lnTo>
                  <a:pt x="1206277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4637653" y="4114800"/>
            <a:ext cx="2637213" cy="6172200"/>
          </a:xfrm>
          <a:custGeom>
            <a:avLst/>
            <a:gdLst/>
            <a:ahLst/>
            <a:cxnLst/>
            <a:rect r="r" b="b" t="t" l="l"/>
            <a:pathLst>
              <a:path h="6172200" w="2637213">
                <a:moveTo>
                  <a:pt x="0" y="0"/>
                </a:moveTo>
                <a:lnTo>
                  <a:pt x="2637213" y="0"/>
                </a:lnTo>
                <a:lnTo>
                  <a:pt x="2637213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9" id="9"/>
          <p:cNvGrpSpPr/>
          <p:nvPr/>
        </p:nvGrpSpPr>
        <p:grpSpPr>
          <a:xfrm rot="0">
            <a:off x="8610225" y="3933372"/>
            <a:ext cx="7196046" cy="4058301"/>
            <a:chOff x="0" y="0"/>
            <a:chExt cx="1895255" cy="106885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95255" cy="1068853"/>
            </a:xfrm>
            <a:custGeom>
              <a:avLst/>
              <a:gdLst/>
              <a:ahLst/>
              <a:cxnLst/>
              <a:rect r="r" b="b" t="t" l="l"/>
              <a:pathLst>
                <a:path h="1068853" w="1895255">
                  <a:moveTo>
                    <a:pt x="64551" y="0"/>
                  </a:moveTo>
                  <a:lnTo>
                    <a:pt x="1830704" y="0"/>
                  </a:lnTo>
                  <a:cubicBezTo>
                    <a:pt x="1866354" y="0"/>
                    <a:pt x="1895255" y="28901"/>
                    <a:pt x="1895255" y="64551"/>
                  </a:cubicBezTo>
                  <a:lnTo>
                    <a:pt x="1895255" y="1004301"/>
                  </a:lnTo>
                  <a:cubicBezTo>
                    <a:pt x="1895255" y="1021422"/>
                    <a:pt x="1888454" y="1037841"/>
                    <a:pt x="1876348" y="1049946"/>
                  </a:cubicBezTo>
                  <a:cubicBezTo>
                    <a:pt x="1864243" y="1062052"/>
                    <a:pt x="1847824" y="1068853"/>
                    <a:pt x="1830704" y="1068853"/>
                  </a:cubicBezTo>
                  <a:lnTo>
                    <a:pt x="64551" y="1068853"/>
                  </a:lnTo>
                  <a:cubicBezTo>
                    <a:pt x="47431" y="1068853"/>
                    <a:pt x="31012" y="1062052"/>
                    <a:pt x="18907" y="1049946"/>
                  </a:cubicBezTo>
                  <a:cubicBezTo>
                    <a:pt x="6801" y="1037841"/>
                    <a:pt x="0" y="1021422"/>
                    <a:pt x="0" y="1004301"/>
                  </a:cubicBezTo>
                  <a:lnTo>
                    <a:pt x="0" y="64551"/>
                  </a:lnTo>
                  <a:cubicBezTo>
                    <a:pt x="0" y="47431"/>
                    <a:pt x="6801" y="31012"/>
                    <a:pt x="18907" y="18907"/>
                  </a:cubicBezTo>
                  <a:cubicBezTo>
                    <a:pt x="31012" y="6801"/>
                    <a:pt x="47431" y="0"/>
                    <a:pt x="64551" y="0"/>
                  </a:cubicBezTo>
                  <a:close/>
                </a:path>
              </a:pathLst>
            </a:custGeom>
            <a:solidFill>
              <a:srgbClr val="E14852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1895255" cy="10783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287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6871266" y="1749809"/>
            <a:ext cx="10673964" cy="20701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00"/>
              </a:lnSpc>
            </a:pPr>
            <a:r>
              <a:rPr lang="en-US" b="true" sz="8000" spc="-400">
                <a:solidFill>
                  <a:srgbClr val="464A39"/>
                </a:solidFill>
                <a:latin typeface="Garet Ultra-Bold"/>
                <a:ea typeface="Garet Ultra-Bold"/>
                <a:cs typeface="Garet Ultra-Bold"/>
                <a:sym typeface="Garet Ultra-Bold"/>
              </a:rPr>
              <a:t>HYPOTHESIS TESTING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597049" y="4638548"/>
            <a:ext cx="5586864" cy="2638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4" indent="-323847" lvl="1">
              <a:lnSpc>
                <a:spcPts val="3599"/>
              </a:lnSpc>
              <a:buFont typeface="Arial"/>
              <a:buChar char="•"/>
            </a:pPr>
            <a:r>
              <a:rPr lang="en-US" sz="2999">
                <a:solidFill>
                  <a:srgbClr val="FFF9F0"/>
                </a:solidFill>
                <a:latin typeface="Roboto"/>
                <a:ea typeface="Roboto"/>
                <a:cs typeface="Roboto"/>
                <a:sym typeface="Roboto"/>
              </a:rPr>
              <a:t>Method: Linear regression</a:t>
            </a:r>
          </a:p>
          <a:p>
            <a:pPr algn="l" marL="647694" indent="-323847" lvl="1">
              <a:lnSpc>
                <a:spcPts val="3599"/>
              </a:lnSpc>
              <a:buFont typeface="Arial"/>
              <a:buChar char="•"/>
            </a:pPr>
            <a:r>
              <a:rPr lang="en-US" sz="2999">
                <a:solidFill>
                  <a:srgbClr val="FFF9F0"/>
                </a:solidFill>
                <a:latin typeface="Roboto"/>
                <a:ea typeface="Roboto"/>
                <a:cs typeface="Roboto"/>
                <a:sym typeface="Roboto"/>
              </a:rPr>
              <a:t>Significance level α = 0.05</a:t>
            </a:r>
          </a:p>
          <a:p>
            <a:pPr algn="l" marL="647694" indent="-323847" lvl="1">
              <a:lnSpc>
                <a:spcPts val="3599"/>
              </a:lnSpc>
              <a:buFont typeface="Arial"/>
              <a:buChar char="•"/>
            </a:pPr>
            <a:r>
              <a:rPr lang="en-US" sz="2999">
                <a:solidFill>
                  <a:srgbClr val="FFF9F0"/>
                </a:solidFill>
                <a:latin typeface="Roboto"/>
                <a:ea typeface="Roboto"/>
                <a:cs typeface="Roboto"/>
                <a:sym typeface="Roboto"/>
              </a:rPr>
              <a:t>Obtained p-value &lt; 0.05</a:t>
            </a:r>
          </a:p>
          <a:p>
            <a:pPr algn="l">
              <a:lnSpc>
                <a:spcPts val="3599"/>
              </a:lnSpc>
            </a:pPr>
          </a:p>
          <a:p>
            <a:pPr algn="l">
              <a:lnSpc>
                <a:spcPts val="3599"/>
              </a:lnSpc>
            </a:pPr>
            <a:r>
              <a:rPr lang="en-US" sz="2999" b="true">
                <a:solidFill>
                  <a:srgbClr val="FFF9F0"/>
                </a:solidFill>
                <a:latin typeface="Roboto Bold"/>
                <a:ea typeface="Roboto Bold"/>
                <a:cs typeface="Roboto Bold"/>
                <a:sym typeface="Roboto Bold"/>
              </a:rPr>
              <a:t> ∴Decision: Reject H0</a:t>
            </a:r>
          </a:p>
          <a:p>
            <a:pPr algn="l" marL="0" indent="0" lvl="0">
              <a:lnSpc>
                <a:spcPts val="3119"/>
              </a:lnSpc>
              <a:spcBef>
                <a:spcPct val="0"/>
              </a:spcBef>
            </a:pP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6532786" y="1597409"/>
            <a:ext cx="12062771" cy="11821515"/>
          </a:xfrm>
          <a:custGeom>
            <a:avLst/>
            <a:gdLst/>
            <a:ahLst/>
            <a:cxnLst/>
            <a:rect r="r" b="b" t="t" l="l"/>
            <a:pathLst>
              <a:path h="11821515" w="12062771">
                <a:moveTo>
                  <a:pt x="0" y="0"/>
                </a:moveTo>
                <a:lnTo>
                  <a:pt x="12062771" y="0"/>
                </a:lnTo>
                <a:lnTo>
                  <a:pt x="12062771" y="11821515"/>
                </a:lnTo>
                <a:lnTo>
                  <a:pt x="0" y="118215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5" id="15"/>
          <p:cNvSpPr/>
          <p:nvPr/>
        </p:nvSpPr>
        <p:spPr>
          <a:xfrm flipH="false" flipV="false" rot="0">
            <a:off x="15318901" y="4749338"/>
            <a:ext cx="2427769" cy="5517657"/>
          </a:xfrm>
          <a:custGeom>
            <a:avLst/>
            <a:gdLst/>
            <a:ahLst/>
            <a:cxnLst/>
            <a:rect r="r" b="b" t="t" l="l"/>
            <a:pathLst>
              <a:path h="5517657" w="2427769">
                <a:moveTo>
                  <a:pt x="0" y="0"/>
                </a:moveTo>
                <a:lnTo>
                  <a:pt x="2427769" y="0"/>
                </a:lnTo>
                <a:lnTo>
                  <a:pt x="2427769" y="5517657"/>
                </a:lnTo>
                <a:lnTo>
                  <a:pt x="0" y="551765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true" flipV="false" rot="0">
            <a:off x="10201636" y="355081"/>
            <a:ext cx="2188846" cy="1242328"/>
          </a:xfrm>
          <a:custGeom>
            <a:avLst/>
            <a:gdLst/>
            <a:ahLst/>
            <a:cxnLst/>
            <a:rect r="r" b="b" t="t" l="l"/>
            <a:pathLst>
              <a:path h="1242328" w="2188846">
                <a:moveTo>
                  <a:pt x="2188845" y="0"/>
                </a:moveTo>
                <a:lnTo>
                  <a:pt x="0" y="0"/>
                </a:lnTo>
                <a:lnTo>
                  <a:pt x="0" y="1242328"/>
                </a:lnTo>
                <a:lnTo>
                  <a:pt x="2188845" y="1242328"/>
                </a:lnTo>
                <a:lnTo>
                  <a:pt x="2188845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171748" t="0" r="-227294" b="-707319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7" id="17"/>
          <p:cNvSpPr/>
          <p:nvPr/>
        </p:nvSpPr>
        <p:spPr>
          <a:xfrm flipH="false" flipV="false" rot="0">
            <a:off x="17084809" y="2165077"/>
            <a:ext cx="2406383" cy="1353590"/>
          </a:xfrm>
          <a:custGeom>
            <a:avLst/>
            <a:gdLst/>
            <a:ahLst/>
            <a:cxnLst/>
            <a:rect r="r" b="b" t="t" l="l"/>
            <a:pathLst>
              <a:path h="1353590" w="2406383">
                <a:moveTo>
                  <a:pt x="0" y="0"/>
                </a:moveTo>
                <a:lnTo>
                  <a:pt x="2406382" y="0"/>
                </a:lnTo>
                <a:lnTo>
                  <a:pt x="2406382" y="1353591"/>
                </a:lnTo>
                <a:lnTo>
                  <a:pt x="0" y="135359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537737" t="-380084" r="-33503" b="-615598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8" id="18"/>
          <p:cNvSpPr/>
          <p:nvPr/>
        </p:nvSpPr>
        <p:spPr>
          <a:xfrm flipH="false" flipV="false" rot="0">
            <a:off x="7072706" y="5515619"/>
            <a:ext cx="2259963" cy="4952110"/>
          </a:xfrm>
          <a:custGeom>
            <a:avLst/>
            <a:gdLst/>
            <a:ahLst/>
            <a:cxnLst/>
            <a:rect r="r" b="b" t="t" l="l"/>
            <a:pathLst>
              <a:path h="4952110" w="2259963">
                <a:moveTo>
                  <a:pt x="0" y="0"/>
                </a:moveTo>
                <a:lnTo>
                  <a:pt x="2259963" y="0"/>
                </a:lnTo>
                <a:lnTo>
                  <a:pt x="2259963" y="4952110"/>
                </a:lnTo>
                <a:lnTo>
                  <a:pt x="0" y="495211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D9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-2963055" y="6340964"/>
            <a:ext cx="25697971" cy="22847833"/>
          </a:xfrm>
          <a:custGeom>
            <a:avLst/>
            <a:gdLst/>
            <a:ahLst/>
            <a:cxnLst/>
            <a:rect r="r" b="b" t="t" l="l"/>
            <a:pathLst>
              <a:path h="22847833" w="25697971">
                <a:moveTo>
                  <a:pt x="0" y="22847833"/>
                </a:moveTo>
                <a:lnTo>
                  <a:pt x="25697971" y="22847833"/>
                </a:lnTo>
                <a:lnTo>
                  <a:pt x="25697971" y="0"/>
                </a:lnTo>
                <a:lnTo>
                  <a:pt x="0" y="0"/>
                </a:lnTo>
                <a:lnTo>
                  <a:pt x="0" y="2284783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9366201"/>
            <a:ext cx="18288000" cy="943673"/>
            <a:chOff x="0" y="0"/>
            <a:chExt cx="4816593" cy="24853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48539"/>
            </a:xfrm>
            <a:custGeom>
              <a:avLst/>
              <a:gdLst/>
              <a:ahLst/>
              <a:cxnLst/>
              <a:rect r="r" b="b" t="t" l="l"/>
              <a:pathLst>
                <a:path h="248539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48539"/>
                  </a:lnTo>
                  <a:lnTo>
                    <a:pt x="0" y="248539"/>
                  </a:lnTo>
                  <a:close/>
                </a:path>
              </a:pathLst>
            </a:custGeom>
            <a:solidFill>
              <a:srgbClr val="464A3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816593" cy="2961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true" flipV="false" rot="0">
            <a:off x="-4126354" y="1590076"/>
            <a:ext cx="12062771" cy="11821515"/>
          </a:xfrm>
          <a:custGeom>
            <a:avLst/>
            <a:gdLst/>
            <a:ahLst/>
            <a:cxnLst/>
            <a:rect r="r" b="b" t="t" l="l"/>
            <a:pathLst>
              <a:path h="11821515" w="12062771">
                <a:moveTo>
                  <a:pt x="12062771" y="0"/>
                </a:moveTo>
                <a:lnTo>
                  <a:pt x="0" y="0"/>
                </a:lnTo>
                <a:lnTo>
                  <a:pt x="0" y="11821515"/>
                </a:lnTo>
                <a:lnTo>
                  <a:pt x="12062771" y="11821515"/>
                </a:lnTo>
                <a:lnTo>
                  <a:pt x="1206277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7" id="7"/>
          <p:cNvSpPr txBox="true"/>
          <p:nvPr/>
        </p:nvSpPr>
        <p:spPr>
          <a:xfrm rot="0">
            <a:off x="5462234" y="2435564"/>
            <a:ext cx="11192934" cy="1670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2500"/>
              </a:lnSpc>
            </a:pPr>
            <a:r>
              <a:rPr lang="en-US" b="true" sz="12500" spc="-625">
                <a:solidFill>
                  <a:srgbClr val="464A39"/>
                </a:solidFill>
                <a:latin typeface="Garet Ultra-Bold"/>
                <a:ea typeface="Garet Ultra-Bold"/>
                <a:cs typeface="Garet Ultra-Bold"/>
                <a:sym typeface="Garet Ultra-Bold"/>
              </a:rPr>
              <a:t>CONCLUSION</a:t>
            </a:r>
          </a:p>
        </p:txBody>
      </p:sp>
      <p:sp>
        <p:nvSpPr>
          <p:cNvPr name="Freeform 8" id="8"/>
          <p:cNvSpPr/>
          <p:nvPr/>
        </p:nvSpPr>
        <p:spPr>
          <a:xfrm flipH="true" flipV="false" rot="0">
            <a:off x="9885931" y="1007354"/>
            <a:ext cx="2188846" cy="1242328"/>
          </a:xfrm>
          <a:custGeom>
            <a:avLst/>
            <a:gdLst/>
            <a:ahLst/>
            <a:cxnLst/>
            <a:rect r="r" b="b" t="t" l="l"/>
            <a:pathLst>
              <a:path h="1242328" w="2188846">
                <a:moveTo>
                  <a:pt x="2188846" y="0"/>
                </a:moveTo>
                <a:lnTo>
                  <a:pt x="0" y="0"/>
                </a:lnTo>
                <a:lnTo>
                  <a:pt x="0" y="1242328"/>
                </a:lnTo>
                <a:lnTo>
                  <a:pt x="2188846" y="1242328"/>
                </a:lnTo>
                <a:lnTo>
                  <a:pt x="2188846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171748" t="0" r="-227294" b="-707319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1426347" y="1323232"/>
            <a:ext cx="687935" cy="883732"/>
          </a:xfrm>
          <a:custGeom>
            <a:avLst/>
            <a:gdLst/>
            <a:ahLst/>
            <a:cxnLst/>
            <a:rect r="r" b="b" t="t" l="l"/>
            <a:pathLst>
              <a:path h="883732" w="687935">
                <a:moveTo>
                  <a:pt x="0" y="0"/>
                </a:moveTo>
                <a:lnTo>
                  <a:pt x="687935" y="0"/>
                </a:lnTo>
                <a:lnTo>
                  <a:pt x="687935" y="883732"/>
                </a:lnTo>
                <a:lnTo>
                  <a:pt x="0" y="88373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0">
            <a:off x="8267460" y="4105615"/>
            <a:ext cx="568147" cy="729850"/>
          </a:xfrm>
          <a:custGeom>
            <a:avLst/>
            <a:gdLst/>
            <a:ahLst/>
            <a:cxnLst/>
            <a:rect r="r" b="b" t="t" l="l"/>
            <a:pathLst>
              <a:path h="729850" w="568147">
                <a:moveTo>
                  <a:pt x="568147" y="0"/>
                </a:moveTo>
                <a:lnTo>
                  <a:pt x="0" y="0"/>
                </a:lnTo>
                <a:lnTo>
                  <a:pt x="0" y="729850"/>
                </a:lnTo>
                <a:lnTo>
                  <a:pt x="568147" y="729850"/>
                </a:lnTo>
                <a:lnTo>
                  <a:pt x="568147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17351265" y="5895114"/>
            <a:ext cx="347069" cy="445851"/>
          </a:xfrm>
          <a:custGeom>
            <a:avLst/>
            <a:gdLst/>
            <a:ahLst/>
            <a:cxnLst/>
            <a:rect r="r" b="b" t="t" l="l"/>
            <a:pathLst>
              <a:path h="445851" w="347069">
                <a:moveTo>
                  <a:pt x="0" y="0"/>
                </a:moveTo>
                <a:lnTo>
                  <a:pt x="347069" y="0"/>
                </a:lnTo>
                <a:lnTo>
                  <a:pt x="347069" y="445850"/>
                </a:lnTo>
                <a:lnTo>
                  <a:pt x="0" y="44585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2" id="12"/>
          <p:cNvSpPr/>
          <p:nvPr/>
        </p:nvSpPr>
        <p:spPr>
          <a:xfrm flipH="true" flipV="false" rot="0">
            <a:off x="17039225" y="3901172"/>
            <a:ext cx="2188846" cy="1242328"/>
          </a:xfrm>
          <a:custGeom>
            <a:avLst/>
            <a:gdLst/>
            <a:ahLst/>
            <a:cxnLst/>
            <a:rect r="r" b="b" t="t" l="l"/>
            <a:pathLst>
              <a:path h="1242328" w="2188846">
                <a:moveTo>
                  <a:pt x="2188845" y="0"/>
                </a:moveTo>
                <a:lnTo>
                  <a:pt x="0" y="0"/>
                </a:lnTo>
                <a:lnTo>
                  <a:pt x="0" y="1242328"/>
                </a:lnTo>
                <a:lnTo>
                  <a:pt x="2188845" y="1242328"/>
                </a:lnTo>
                <a:lnTo>
                  <a:pt x="2188845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171748" t="0" r="-227294" b="-707319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13" id="13"/>
          <p:cNvGrpSpPr/>
          <p:nvPr/>
        </p:nvGrpSpPr>
        <p:grpSpPr>
          <a:xfrm rot="0">
            <a:off x="7822123" y="4920575"/>
            <a:ext cx="8833045" cy="2870450"/>
            <a:chOff x="0" y="0"/>
            <a:chExt cx="2326399" cy="75600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326399" cy="756003"/>
            </a:xfrm>
            <a:custGeom>
              <a:avLst/>
              <a:gdLst/>
              <a:ahLst/>
              <a:cxnLst/>
              <a:rect r="r" b="b" t="t" l="l"/>
              <a:pathLst>
                <a:path h="756003" w="2326399">
                  <a:moveTo>
                    <a:pt x="52588" y="0"/>
                  </a:moveTo>
                  <a:lnTo>
                    <a:pt x="2273810" y="0"/>
                  </a:lnTo>
                  <a:cubicBezTo>
                    <a:pt x="2287758" y="0"/>
                    <a:pt x="2301134" y="5541"/>
                    <a:pt x="2310996" y="15403"/>
                  </a:cubicBezTo>
                  <a:cubicBezTo>
                    <a:pt x="2320858" y="25265"/>
                    <a:pt x="2326399" y="38641"/>
                    <a:pt x="2326399" y="52588"/>
                  </a:cubicBezTo>
                  <a:lnTo>
                    <a:pt x="2326399" y="703415"/>
                  </a:lnTo>
                  <a:cubicBezTo>
                    <a:pt x="2326399" y="717362"/>
                    <a:pt x="2320858" y="730738"/>
                    <a:pt x="2310996" y="740601"/>
                  </a:cubicBezTo>
                  <a:cubicBezTo>
                    <a:pt x="2301134" y="750463"/>
                    <a:pt x="2287758" y="756003"/>
                    <a:pt x="2273810" y="756003"/>
                  </a:cubicBezTo>
                  <a:lnTo>
                    <a:pt x="52588" y="756003"/>
                  </a:lnTo>
                  <a:cubicBezTo>
                    <a:pt x="38641" y="756003"/>
                    <a:pt x="25265" y="750463"/>
                    <a:pt x="15403" y="740601"/>
                  </a:cubicBezTo>
                  <a:cubicBezTo>
                    <a:pt x="5541" y="730738"/>
                    <a:pt x="0" y="717362"/>
                    <a:pt x="0" y="703415"/>
                  </a:cubicBezTo>
                  <a:lnTo>
                    <a:pt x="0" y="52588"/>
                  </a:lnTo>
                  <a:cubicBezTo>
                    <a:pt x="0" y="38641"/>
                    <a:pt x="5541" y="25265"/>
                    <a:pt x="15403" y="15403"/>
                  </a:cubicBezTo>
                  <a:cubicBezTo>
                    <a:pt x="25265" y="5541"/>
                    <a:pt x="38641" y="0"/>
                    <a:pt x="52588" y="0"/>
                  </a:cubicBezTo>
                  <a:close/>
                </a:path>
              </a:pathLst>
            </a:custGeom>
            <a:solidFill>
              <a:srgbClr val="E14852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2326399" cy="7655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287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7936417" y="5219528"/>
            <a:ext cx="8176779" cy="2734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36" indent="-280668" lvl="1">
              <a:lnSpc>
                <a:spcPts val="3639"/>
              </a:lnSpc>
              <a:spcBef>
                <a:spcPct val="0"/>
              </a:spcBef>
              <a:buFont typeface="Arial"/>
              <a:buChar char="•"/>
            </a:pPr>
            <a:r>
              <a:rPr lang="en-US" sz="2599">
                <a:solidFill>
                  <a:srgbClr val="FFF9F0"/>
                </a:solidFill>
                <a:latin typeface="Roboto"/>
                <a:ea typeface="Roboto"/>
                <a:cs typeface="Roboto"/>
                <a:sym typeface="Roboto"/>
              </a:rPr>
              <a:t>Cair</a:t>
            </a:r>
            <a:r>
              <a:rPr lang="en-US" sz="2599">
                <a:solidFill>
                  <a:srgbClr val="FFF9F0"/>
                </a:solidFill>
                <a:latin typeface="Roboto"/>
                <a:ea typeface="Roboto"/>
                <a:cs typeface="Roboto"/>
                <a:sym typeface="Roboto"/>
              </a:rPr>
              <a:t>o’s average temperature is increasing over time.</a:t>
            </a:r>
          </a:p>
          <a:p>
            <a:pPr algn="l" marL="561336" indent="-280668" lvl="1">
              <a:lnSpc>
                <a:spcPts val="3639"/>
              </a:lnSpc>
              <a:spcBef>
                <a:spcPct val="0"/>
              </a:spcBef>
              <a:buFont typeface="Arial"/>
              <a:buChar char="•"/>
            </a:pPr>
            <a:r>
              <a:rPr lang="en-US" sz="2599">
                <a:solidFill>
                  <a:srgbClr val="FFF9F0"/>
                </a:solidFill>
                <a:latin typeface="Roboto"/>
                <a:ea typeface="Roboto"/>
                <a:cs typeface="Roboto"/>
                <a:sym typeface="Roboto"/>
              </a:rPr>
              <a:t>The trend is statistically significant based on linear regression.</a:t>
            </a:r>
          </a:p>
          <a:p>
            <a:pPr algn="l" marL="561336" indent="-280668" lvl="1">
              <a:lnSpc>
                <a:spcPts val="3639"/>
              </a:lnSpc>
              <a:spcBef>
                <a:spcPct val="0"/>
              </a:spcBef>
              <a:buFont typeface="Arial"/>
              <a:buChar char="•"/>
            </a:pPr>
            <a:r>
              <a:rPr lang="en-US" sz="2599">
                <a:solidFill>
                  <a:srgbClr val="FFF9F0"/>
                </a:solidFill>
                <a:latin typeface="Roboto"/>
                <a:ea typeface="Roboto"/>
                <a:cs typeface="Roboto"/>
                <a:sym typeface="Roboto"/>
              </a:rPr>
              <a:t>Recent years show higher temperature values than earlier years.</a:t>
            </a:r>
          </a:p>
          <a:p>
            <a:pPr algn="l">
              <a:lnSpc>
                <a:spcPts val="363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DAHIhe7LQvU</dc:identifier>
  <dcterms:modified xsi:type="dcterms:W3CDTF">2011-08-01T06:04:30Z</dcterms:modified>
  <cp:revision>1</cp:revision>
  <dc:title>Red and Yellow Illustrative Playful Global Warming Presentation</dc:title>
</cp:coreProperties>
</file>